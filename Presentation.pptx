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2" d="100"/>
          <a:sy n="92" d="100"/>
        </p:scale>
        <p:origin x="859" y="87"/>
      </p:cViewPr>
      <p:guideLst/>
    </p:cSldViewPr>
  </p:slideViewPr>
  <p:notesTextViewPr>
    <p:cViewPr>
      <p:scale>
        <a:sx n="1" d="1"/>
        <a:sy n="1" d="1"/>
      </p:scale>
      <p:origin x="0" y="-6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9030195-5765-423D-8AF7-6780E5B63FA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26FE18E-0A00-42FA-83B9-BF7487625A75}">
      <dgm:prSet/>
      <dgm:spPr/>
      <dgm:t>
        <a:bodyPr/>
        <a:lstStyle/>
        <a:p>
          <a:r>
            <a:rPr lang="en-US" b="0" i="0" baseline="0"/>
            <a:t>Fit.ly is experiencing elevated customer churn across free and paid plans.</a:t>
          </a:r>
          <a:endParaRPr lang="en-US"/>
        </a:p>
      </dgm:t>
    </dgm:pt>
    <dgm:pt modelId="{8CFE26D1-22AE-4983-A67F-B7D219DB44EB}" type="parTrans" cxnId="{1B1FF431-1634-47C6-B459-05B037FE70A6}">
      <dgm:prSet/>
      <dgm:spPr/>
      <dgm:t>
        <a:bodyPr/>
        <a:lstStyle/>
        <a:p>
          <a:endParaRPr lang="en-US"/>
        </a:p>
      </dgm:t>
    </dgm:pt>
    <dgm:pt modelId="{4B9ADAC6-E724-4CB5-AF7C-28E21284BA85}" type="sibTrans" cxnId="{1B1FF431-1634-47C6-B459-05B037FE70A6}">
      <dgm:prSet/>
      <dgm:spPr/>
      <dgm:t>
        <a:bodyPr/>
        <a:lstStyle/>
        <a:p>
          <a:endParaRPr lang="en-US"/>
        </a:p>
      </dgm:t>
    </dgm:pt>
    <dgm:pt modelId="{8CD57A87-D7C0-4B80-913E-7242AE05039E}">
      <dgm:prSet/>
      <dgm:spPr/>
      <dgm:t>
        <a:bodyPr/>
        <a:lstStyle/>
        <a:p>
          <a:r>
            <a:rPr lang="en-US" b="0" i="0" baseline="0"/>
            <a:t>Engagement and support interactions strongly correlate with churn.</a:t>
          </a:r>
          <a:endParaRPr lang="en-US"/>
        </a:p>
      </dgm:t>
    </dgm:pt>
    <dgm:pt modelId="{657A5245-8D02-4DE3-9004-4B6676EC66ED}" type="parTrans" cxnId="{C990F844-D58C-493A-AD16-85C6B4BBE8E6}">
      <dgm:prSet/>
      <dgm:spPr/>
      <dgm:t>
        <a:bodyPr/>
        <a:lstStyle/>
        <a:p>
          <a:endParaRPr lang="en-US"/>
        </a:p>
      </dgm:t>
    </dgm:pt>
    <dgm:pt modelId="{C60E3BEF-42CF-4221-AD21-08C5BFF43566}" type="sibTrans" cxnId="{C990F844-D58C-493A-AD16-85C6B4BBE8E6}">
      <dgm:prSet/>
      <dgm:spPr/>
      <dgm:t>
        <a:bodyPr/>
        <a:lstStyle/>
        <a:p>
          <a:endParaRPr lang="en-US"/>
        </a:p>
      </dgm:t>
    </dgm:pt>
    <dgm:pt modelId="{6504FAB1-0E44-4D7F-956D-D3C018668E13}">
      <dgm:prSet/>
      <dgm:spPr/>
      <dgm:t>
        <a:bodyPr/>
        <a:lstStyle/>
        <a:p>
          <a:r>
            <a:rPr lang="en-US" b="0" i="0" baseline="0"/>
            <a:t>Three datasets were validated, cleaned, and analyzed using R.</a:t>
          </a:r>
          <a:endParaRPr lang="en-US"/>
        </a:p>
      </dgm:t>
    </dgm:pt>
    <dgm:pt modelId="{2C3C129E-1FD0-4D6D-89FB-1EE6DD95AA21}" type="parTrans" cxnId="{33E160EB-1F28-4FEA-8164-ACDE201C1EDF}">
      <dgm:prSet/>
      <dgm:spPr/>
      <dgm:t>
        <a:bodyPr/>
        <a:lstStyle/>
        <a:p>
          <a:endParaRPr lang="en-US"/>
        </a:p>
      </dgm:t>
    </dgm:pt>
    <dgm:pt modelId="{A981C23F-5028-44A8-BC99-4CF69326360F}" type="sibTrans" cxnId="{33E160EB-1F28-4FEA-8164-ACDE201C1EDF}">
      <dgm:prSet/>
      <dgm:spPr/>
      <dgm:t>
        <a:bodyPr/>
        <a:lstStyle/>
        <a:p>
          <a:endParaRPr lang="en-US"/>
        </a:p>
      </dgm:t>
    </dgm:pt>
    <dgm:pt modelId="{C55C843C-AC1B-47AD-A898-400465B52684}">
      <dgm:prSet/>
      <dgm:spPr/>
      <dgm:t>
        <a:bodyPr/>
        <a:lstStyle/>
        <a:p>
          <a:r>
            <a:rPr lang="en-US" b="0" i="0" baseline="0"/>
            <a:t>Clear patterns emerged to guide effective retention initiatives.</a:t>
          </a:r>
          <a:endParaRPr lang="en-US"/>
        </a:p>
      </dgm:t>
    </dgm:pt>
    <dgm:pt modelId="{D545E540-1A72-4885-A6FB-301749A22647}" type="parTrans" cxnId="{C89FFC52-BA30-4C81-A99A-C9BA8B90D506}">
      <dgm:prSet/>
      <dgm:spPr/>
      <dgm:t>
        <a:bodyPr/>
        <a:lstStyle/>
        <a:p>
          <a:endParaRPr lang="en-US"/>
        </a:p>
      </dgm:t>
    </dgm:pt>
    <dgm:pt modelId="{936AA6B4-AF96-4B32-AD76-FFAC3AE38CA5}" type="sibTrans" cxnId="{C89FFC52-BA30-4C81-A99A-C9BA8B90D506}">
      <dgm:prSet/>
      <dgm:spPr/>
      <dgm:t>
        <a:bodyPr/>
        <a:lstStyle/>
        <a:p>
          <a:endParaRPr lang="en-US"/>
        </a:p>
      </dgm:t>
    </dgm:pt>
    <dgm:pt modelId="{C084BA3A-33EA-4A47-A264-C7F369B57408}" type="pres">
      <dgm:prSet presAssocID="{19030195-5765-423D-8AF7-6780E5B63FAA}" presName="linear" presStyleCnt="0">
        <dgm:presLayoutVars>
          <dgm:animLvl val="lvl"/>
          <dgm:resizeHandles val="exact"/>
        </dgm:presLayoutVars>
      </dgm:prSet>
      <dgm:spPr/>
    </dgm:pt>
    <dgm:pt modelId="{6E214378-2C01-48C9-9257-56662BECBBB1}" type="pres">
      <dgm:prSet presAssocID="{B26FE18E-0A00-42FA-83B9-BF7487625A75}" presName="parentText" presStyleLbl="node1" presStyleIdx="0" presStyleCnt="4">
        <dgm:presLayoutVars>
          <dgm:chMax val="0"/>
          <dgm:bulletEnabled val="1"/>
        </dgm:presLayoutVars>
      </dgm:prSet>
      <dgm:spPr/>
    </dgm:pt>
    <dgm:pt modelId="{B50A074B-D885-4416-AE26-748D0F5B77DB}" type="pres">
      <dgm:prSet presAssocID="{4B9ADAC6-E724-4CB5-AF7C-28E21284BA85}" presName="spacer" presStyleCnt="0"/>
      <dgm:spPr/>
    </dgm:pt>
    <dgm:pt modelId="{08A0BD69-ED24-4206-859D-AA375B914A95}" type="pres">
      <dgm:prSet presAssocID="{8CD57A87-D7C0-4B80-913E-7242AE05039E}" presName="parentText" presStyleLbl="node1" presStyleIdx="1" presStyleCnt="4">
        <dgm:presLayoutVars>
          <dgm:chMax val="0"/>
          <dgm:bulletEnabled val="1"/>
        </dgm:presLayoutVars>
      </dgm:prSet>
      <dgm:spPr/>
    </dgm:pt>
    <dgm:pt modelId="{97DCA440-9143-4745-81BF-15F058C835F5}" type="pres">
      <dgm:prSet presAssocID="{C60E3BEF-42CF-4221-AD21-08C5BFF43566}" presName="spacer" presStyleCnt="0"/>
      <dgm:spPr/>
    </dgm:pt>
    <dgm:pt modelId="{C3EF4614-0D2F-4ED9-A734-FB368FFE91C3}" type="pres">
      <dgm:prSet presAssocID="{6504FAB1-0E44-4D7F-956D-D3C018668E13}" presName="parentText" presStyleLbl="node1" presStyleIdx="2" presStyleCnt="4">
        <dgm:presLayoutVars>
          <dgm:chMax val="0"/>
          <dgm:bulletEnabled val="1"/>
        </dgm:presLayoutVars>
      </dgm:prSet>
      <dgm:spPr/>
    </dgm:pt>
    <dgm:pt modelId="{3C2F85C5-34E3-4491-9A33-98026D18797C}" type="pres">
      <dgm:prSet presAssocID="{A981C23F-5028-44A8-BC99-4CF69326360F}" presName="spacer" presStyleCnt="0"/>
      <dgm:spPr/>
    </dgm:pt>
    <dgm:pt modelId="{F7A826F1-C04A-4391-B66D-0880BA3131D8}" type="pres">
      <dgm:prSet presAssocID="{C55C843C-AC1B-47AD-A898-400465B52684}" presName="parentText" presStyleLbl="node1" presStyleIdx="3" presStyleCnt="4">
        <dgm:presLayoutVars>
          <dgm:chMax val="0"/>
          <dgm:bulletEnabled val="1"/>
        </dgm:presLayoutVars>
      </dgm:prSet>
      <dgm:spPr/>
    </dgm:pt>
  </dgm:ptLst>
  <dgm:cxnLst>
    <dgm:cxn modelId="{7EB66E00-4CE1-47C7-A4E9-4C8501D178E0}" type="presOf" srcId="{19030195-5765-423D-8AF7-6780E5B63FAA}" destId="{C084BA3A-33EA-4A47-A264-C7F369B57408}" srcOrd="0" destOrd="0" presId="urn:microsoft.com/office/officeart/2005/8/layout/vList2"/>
    <dgm:cxn modelId="{9E52110E-C54B-47C4-BA0A-194B3B562C94}" type="presOf" srcId="{C55C843C-AC1B-47AD-A898-400465B52684}" destId="{F7A826F1-C04A-4391-B66D-0880BA3131D8}" srcOrd="0" destOrd="0" presId="urn:microsoft.com/office/officeart/2005/8/layout/vList2"/>
    <dgm:cxn modelId="{33105A12-DAFF-4068-933A-4B43A810F8CD}" type="presOf" srcId="{B26FE18E-0A00-42FA-83B9-BF7487625A75}" destId="{6E214378-2C01-48C9-9257-56662BECBBB1}" srcOrd="0" destOrd="0" presId="urn:microsoft.com/office/officeart/2005/8/layout/vList2"/>
    <dgm:cxn modelId="{1B1FF431-1634-47C6-B459-05B037FE70A6}" srcId="{19030195-5765-423D-8AF7-6780E5B63FAA}" destId="{B26FE18E-0A00-42FA-83B9-BF7487625A75}" srcOrd="0" destOrd="0" parTransId="{8CFE26D1-22AE-4983-A67F-B7D219DB44EB}" sibTransId="{4B9ADAC6-E724-4CB5-AF7C-28E21284BA85}"/>
    <dgm:cxn modelId="{C990F844-D58C-493A-AD16-85C6B4BBE8E6}" srcId="{19030195-5765-423D-8AF7-6780E5B63FAA}" destId="{8CD57A87-D7C0-4B80-913E-7242AE05039E}" srcOrd="1" destOrd="0" parTransId="{657A5245-8D02-4DE3-9004-4B6676EC66ED}" sibTransId="{C60E3BEF-42CF-4221-AD21-08C5BFF43566}"/>
    <dgm:cxn modelId="{C89FFC52-BA30-4C81-A99A-C9BA8B90D506}" srcId="{19030195-5765-423D-8AF7-6780E5B63FAA}" destId="{C55C843C-AC1B-47AD-A898-400465B52684}" srcOrd="3" destOrd="0" parTransId="{D545E540-1A72-4885-A6FB-301749A22647}" sibTransId="{936AA6B4-AF96-4B32-AD76-FFAC3AE38CA5}"/>
    <dgm:cxn modelId="{4270797D-BED5-4E67-977E-2FC9401490DF}" type="presOf" srcId="{6504FAB1-0E44-4D7F-956D-D3C018668E13}" destId="{C3EF4614-0D2F-4ED9-A734-FB368FFE91C3}" srcOrd="0" destOrd="0" presId="urn:microsoft.com/office/officeart/2005/8/layout/vList2"/>
    <dgm:cxn modelId="{6DB15EA8-1905-4FA6-A3CD-EECB35DF443F}" type="presOf" srcId="{8CD57A87-D7C0-4B80-913E-7242AE05039E}" destId="{08A0BD69-ED24-4206-859D-AA375B914A95}" srcOrd="0" destOrd="0" presId="urn:microsoft.com/office/officeart/2005/8/layout/vList2"/>
    <dgm:cxn modelId="{33E160EB-1F28-4FEA-8164-ACDE201C1EDF}" srcId="{19030195-5765-423D-8AF7-6780E5B63FAA}" destId="{6504FAB1-0E44-4D7F-956D-D3C018668E13}" srcOrd="2" destOrd="0" parTransId="{2C3C129E-1FD0-4D6D-89FB-1EE6DD95AA21}" sibTransId="{A981C23F-5028-44A8-BC99-4CF69326360F}"/>
    <dgm:cxn modelId="{565FE580-E1E9-4616-B1F5-DEE9E2E40A26}" type="presParOf" srcId="{C084BA3A-33EA-4A47-A264-C7F369B57408}" destId="{6E214378-2C01-48C9-9257-56662BECBBB1}" srcOrd="0" destOrd="0" presId="urn:microsoft.com/office/officeart/2005/8/layout/vList2"/>
    <dgm:cxn modelId="{696A7D3E-1247-460A-A88D-807F8339C5A6}" type="presParOf" srcId="{C084BA3A-33EA-4A47-A264-C7F369B57408}" destId="{B50A074B-D885-4416-AE26-748D0F5B77DB}" srcOrd="1" destOrd="0" presId="urn:microsoft.com/office/officeart/2005/8/layout/vList2"/>
    <dgm:cxn modelId="{FE3C94BC-277F-461E-91D5-223FF49D4BD6}" type="presParOf" srcId="{C084BA3A-33EA-4A47-A264-C7F369B57408}" destId="{08A0BD69-ED24-4206-859D-AA375B914A95}" srcOrd="2" destOrd="0" presId="urn:microsoft.com/office/officeart/2005/8/layout/vList2"/>
    <dgm:cxn modelId="{B54F12B5-4393-4F32-ADAD-97DED705589F}" type="presParOf" srcId="{C084BA3A-33EA-4A47-A264-C7F369B57408}" destId="{97DCA440-9143-4745-81BF-15F058C835F5}" srcOrd="3" destOrd="0" presId="urn:microsoft.com/office/officeart/2005/8/layout/vList2"/>
    <dgm:cxn modelId="{FC095177-E39F-403B-A8A1-9786A7117A62}" type="presParOf" srcId="{C084BA3A-33EA-4A47-A264-C7F369B57408}" destId="{C3EF4614-0D2F-4ED9-A734-FB368FFE91C3}" srcOrd="4" destOrd="0" presId="urn:microsoft.com/office/officeart/2005/8/layout/vList2"/>
    <dgm:cxn modelId="{7AE94BA7-9DF7-40DC-9424-DAC333661F18}" type="presParOf" srcId="{C084BA3A-33EA-4A47-A264-C7F369B57408}" destId="{3C2F85C5-34E3-4491-9A33-98026D18797C}" srcOrd="5" destOrd="0" presId="urn:microsoft.com/office/officeart/2005/8/layout/vList2"/>
    <dgm:cxn modelId="{60F1F07B-FE27-4E65-8870-B1D0336A22F2}" type="presParOf" srcId="{C084BA3A-33EA-4A47-A264-C7F369B57408}" destId="{F7A826F1-C04A-4391-B66D-0880BA3131D8}"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19F97F-C029-4A62-B96A-AAB776C05847}"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00D3EEB6-9B82-46DF-BFD8-3CB07CBE055D}">
      <dgm:prSet/>
      <dgm:spPr/>
      <dgm:t>
        <a:bodyPr/>
        <a:lstStyle/>
        <a:p>
          <a:r>
            <a:rPr lang="en-US" b="1" i="0" baseline="0"/>
            <a:t>Strengthen early engagement</a:t>
          </a:r>
          <a:r>
            <a:rPr lang="en-US"/>
            <a:t> - </a:t>
          </a:r>
          <a:r>
            <a:rPr lang="en-US" b="0" i="0" baseline="0"/>
            <a:t>Drive users to complete 2+ actions in first week.</a:t>
          </a:r>
          <a:endParaRPr lang="en-US"/>
        </a:p>
      </dgm:t>
    </dgm:pt>
    <dgm:pt modelId="{6FF6F1FB-A7F6-43FE-B0A3-4BB3781F49EC}" type="parTrans" cxnId="{8CC3D8EA-78B4-4355-9090-787C29D96866}">
      <dgm:prSet/>
      <dgm:spPr/>
      <dgm:t>
        <a:bodyPr/>
        <a:lstStyle/>
        <a:p>
          <a:endParaRPr lang="en-US"/>
        </a:p>
      </dgm:t>
    </dgm:pt>
    <dgm:pt modelId="{EF97DF9F-CFD4-454B-82D5-503038B9C1F7}" type="sibTrans" cxnId="{8CC3D8EA-78B4-4355-9090-787C29D96866}">
      <dgm:prSet/>
      <dgm:spPr/>
      <dgm:t>
        <a:bodyPr/>
        <a:lstStyle/>
        <a:p>
          <a:endParaRPr lang="en-US"/>
        </a:p>
      </dgm:t>
    </dgm:pt>
    <dgm:pt modelId="{FFFE42D8-6050-4931-88B7-8383118B6877}">
      <dgm:prSet/>
      <dgm:spPr/>
      <dgm:t>
        <a:bodyPr/>
        <a:lstStyle/>
        <a:p>
          <a:r>
            <a:rPr lang="en-US" b="1" i="0" baseline="0"/>
            <a:t>Proactive support for high-risk users</a:t>
          </a:r>
          <a:r>
            <a:rPr lang="en-US"/>
            <a:t> - </a:t>
          </a:r>
          <a:r>
            <a:rPr lang="en-US" b="0" i="0" baseline="0"/>
            <a:t>0-event users, multi-ticket users.</a:t>
          </a:r>
          <a:endParaRPr lang="en-US"/>
        </a:p>
      </dgm:t>
    </dgm:pt>
    <dgm:pt modelId="{D4D1E326-838E-4BEF-A442-2BF2E8FB6DDF}" type="parTrans" cxnId="{71BA3155-E639-459D-B4E1-4657020F7877}">
      <dgm:prSet/>
      <dgm:spPr/>
      <dgm:t>
        <a:bodyPr/>
        <a:lstStyle/>
        <a:p>
          <a:endParaRPr lang="en-US"/>
        </a:p>
      </dgm:t>
    </dgm:pt>
    <dgm:pt modelId="{F222C2E9-104A-4287-8708-A07061C1B3BC}" type="sibTrans" cxnId="{71BA3155-E639-459D-B4E1-4657020F7877}">
      <dgm:prSet/>
      <dgm:spPr/>
      <dgm:t>
        <a:bodyPr/>
        <a:lstStyle/>
        <a:p>
          <a:endParaRPr lang="en-US"/>
        </a:p>
      </dgm:t>
    </dgm:pt>
    <dgm:pt modelId="{BFFBFE5C-E2C5-4818-9831-683C4593FA1C}">
      <dgm:prSet/>
      <dgm:spPr/>
      <dgm:t>
        <a:bodyPr/>
        <a:lstStyle/>
        <a:p>
          <a:r>
            <a:rPr lang="en-US" b="1" i="0" baseline="0"/>
            <a:t>Improve support response times</a:t>
          </a:r>
          <a:r>
            <a:rPr lang="en-US"/>
            <a:t> - </a:t>
          </a:r>
          <a:r>
            <a:rPr lang="en-US" b="0" i="0" baseline="0"/>
            <a:t>Especially for technical/account issues.</a:t>
          </a:r>
          <a:endParaRPr lang="en-US"/>
        </a:p>
      </dgm:t>
    </dgm:pt>
    <dgm:pt modelId="{D5CF834C-C72C-46F4-A9C4-00C5FE18E555}" type="parTrans" cxnId="{3348E01A-70DF-4150-A09C-22D86C929BEF}">
      <dgm:prSet/>
      <dgm:spPr/>
      <dgm:t>
        <a:bodyPr/>
        <a:lstStyle/>
        <a:p>
          <a:endParaRPr lang="en-US"/>
        </a:p>
      </dgm:t>
    </dgm:pt>
    <dgm:pt modelId="{544F8E9A-36CA-4E85-A560-23183EFE0784}" type="sibTrans" cxnId="{3348E01A-70DF-4150-A09C-22D86C929BEF}">
      <dgm:prSet/>
      <dgm:spPr/>
      <dgm:t>
        <a:bodyPr/>
        <a:lstStyle/>
        <a:p>
          <a:endParaRPr lang="en-US"/>
        </a:p>
      </dgm:t>
    </dgm:pt>
    <dgm:pt modelId="{7102E64F-50EB-4505-8191-C1829694814C}">
      <dgm:prSet/>
      <dgm:spPr/>
      <dgm:t>
        <a:bodyPr/>
        <a:lstStyle/>
        <a:p>
          <a:r>
            <a:rPr lang="en-US" b="1" i="0" baseline="0"/>
            <a:t>Enhance Free tier activation</a:t>
          </a:r>
          <a:r>
            <a:rPr lang="en-US"/>
            <a:t> - </a:t>
          </a:r>
          <a:r>
            <a:rPr lang="en-US" b="0" i="0" baseline="0"/>
            <a:t>Better onboarding, in-app nudges, upgrade guidance.</a:t>
          </a:r>
          <a:endParaRPr lang="en-US"/>
        </a:p>
      </dgm:t>
    </dgm:pt>
    <dgm:pt modelId="{A6760649-BD96-4E55-A3E7-D68E75CEC13C}" type="parTrans" cxnId="{1FA96D22-428E-4C4D-806B-20D96E795A00}">
      <dgm:prSet/>
      <dgm:spPr/>
      <dgm:t>
        <a:bodyPr/>
        <a:lstStyle/>
        <a:p>
          <a:endParaRPr lang="en-US"/>
        </a:p>
      </dgm:t>
    </dgm:pt>
    <dgm:pt modelId="{60B3DDB8-335D-4AE2-962A-0A214865F666}" type="sibTrans" cxnId="{1FA96D22-428E-4C4D-806B-20D96E795A00}">
      <dgm:prSet/>
      <dgm:spPr/>
      <dgm:t>
        <a:bodyPr/>
        <a:lstStyle/>
        <a:p>
          <a:endParaRPr lang="en-US"/>
        </a:p>
      </dgm:t>
    </dgm:pt>
    <dgm:pt modelId="{0C687D95-8142-4DC5-8C14-94A3F6EF7773}">
      <dgm:prSet/>
      <dgm:spPr/>
      <dgm:t>
        <a:bodyPr/>
        <a:lstStyle/>
        <a:p>
          <a:r>
            <a:rPr lang="en-US" b="1" i="0" baseline="0"/>
            <a:t>Establish churn dashboards</a:t>
          </a:r>
          <a:r>
            <a:rPr lang="en-US"/>
            <a:t> - </a:t>
          </a:r>
          <a:r>
            <a:rPr lang="en-US" b="0" i="0" baseline="0"/>
            <a:t>Track monthly churn segmented by behavior and plan.</a:t>
          </a:r>
          <a:endParaRPr lang="en-US"/>
        </a:p>
      </dgm:t>
    </dgm:pt>
    <dgm:pt modelId="{CB541745-9EA7-47C9-A0CC-8365E0AE3198}" type="parTrans" cxnId="{8A0CCA4D-CEF3-4530-98E1-7F05764A10B7}">
      <dgm:prSet/>
      <dgm:spPr/>
      <dgm:t>
        <a:bodyPr/>
        <a:lstStyle/>
        <a:p>
          <a:endParaRPr lang="en-US"/>
        </a:p>
      </dgm:t>
    </dgm:pt>
    <dgm:pt modelId="{80EA290C-1627-4E78-910A-4F306AC61C30}" type="sibTrans" cxnId="{8A0CCA4D-CEF3-4530-98E1-7F05764A10B7}">
      <dgm:prSet/>
      <dgm:spPr/>
      <dgm:t>
        <a:bodyPr/>
        <a:lstStyle/>
        <a:p>
          <a:endParaRPr lang="en-US"/>
        </a:p>
      </dgm:t>
    </dgm:pt>
    <dgm:pt modelId="{1D85904C-4B07-4AF9-BA07-64D8651FE69C}" type="pres">
      <dgm:prSet presAssocID="{4519F97F-C029-4A62-B96A-AAB776C05847}" presName="vert0" presStyleCnt="0">
        <dgm:presLayoutVars>
          <dgm:dir/>
          <dgm:animOne val="branch"/>
          <dgm:animLvl val="lvl"/>
        </dgm:presLayoutVars>
      </dgm:prSet>
      <dgm:spPr/>
    </dgm:pt>
    <dgm:pt modelId="{6D92C830-7A1F-4E3A-802A-C75632F93EBF}" type="pres">
      <dgm:prSet presAssocID="{00D3EEB6-9B82-46DF-BFD8-3CB07CBE055D}" presName="thickLine" presStyleLbl="alignNode1" presStyleIdx="0" presStyleCnt="5"/>
      <dgm:spPr/>
    </dgm:pt>
    <dgm:pt modelId="{1439B0EE-C786-40E5-9CFC-3C0B623E5FEA}" type="pres">
      <dgm:prSet presAssocID="{00D3EEB6-9B82-46DF-BFD8-3CB07CBE055D}" presName="horz1" presStyleCnt="0"/>
      <dgm:spPr/>
    </dgm:pt>
    <dgm:pt modelId="{8AD3965B-3524-4023-A3EE-2F881997244B}" type="pres">
      <dgm:prSet presAssocID="{00D3EEB6-9B82-46DF-BFD8-3CB07CBE055D}" presName="tx1" presStyleLbl="revTx" presStyleIdx="0" presStyleCnt="5"/>
      <dgm:spPr/>
    </dgm:pt>
    <dgm:pt modelId="{467A130D-C832-4B49-843A-0E584663B205}" type="pres">
      <dgm:prSet presAssocID="{00D3EEB6-9B82-46DF-BFD8-3CB07CBE055D}" presName="vert1" presStyleCnt="0"/>
      <dgm:spPr/>
    </dgm:pt>
    <dgm:pt modelId="{237DFBEC-93D6-4C22-A9ED-D5B8C7733D56}" type="pres">
      <dgm:prSet presAssocID="{FFFE42D8-6050-4931-88B7-8383118B6877}" presName="thickLine" presStyleLbl="alignNode1" presStyleIdx="1" presStyleCnt="5"/>
      <dgm:spPr/>
    </dgm:pt>
    <dgm:pt modelId="{D917B236-CAB7-47A7-9CFF-D3AAF94EA6C8}" type="pres">
      <dgm:prSet presAssocID="{FFFE42D8-6050-4931-88B7-8383118B6877}" presName="horz1" presStyleCnt="0"/>
      <dgm:spPr/>
    </dgm:pt>
    <dgm:pt modelId="{7F7C9D45-7522-4BC2-9AB9-72D69A723338}" type="pres">
      <dgm:prSet presAssocID="{FFFE42D8-6050-4931-88B7-8383118B6877}" presName="tx1" presStyleLbl="revTx" presStyleIdx="1" presStyleCnt="5"/>
      <dgm:spPr/>
    </dgm:pt>
    <dgm:pt modelId="{818F8154-A694-478E-AD3D-6148141CA09F}" type="pres">
      <dgm:prSet presAssocID="{FFFE42D8-6050-4931-88B7-8383118B6877}" presName="vert1" presStyleCnt="0"/>
      <dgm:spPr/>
    </dgm:pt>
    <dgm:pt modelId="{84669C0F-7D80-44C2-8DE9-9705830F99DE}" type="pres">
      <dgm:prSet presAssocID="{BFFBFE5C-E2C5-4818-9831-683C4593FA1C}" presName="thickLine" presStyleLbl="alignNode1" presStyleIdx="2" presStyleCnt="5"/>
      <dgm:spPr/>
    </dgm:pt>
    <dgm:pt modelId="{7A8B29D5-FF9D-412B-8BCC-865ADC37FE0D}" type="pres">
      <dgm:prSet presAssocID="{BFFBFE5C-E2C5-4818-9831-683C4593FA1C}" presName="horz1" presStyleCnt="0"/>
      <dgm:spPr/>
    </dgm:pt>
    <dgm:pt modelId="{0267D9D0-7251-428E-8779-6D5D4B5F80FB}" type="pres">
      <dgm:prSet presAssocID="{BFFBFE5C-E2C5-4818-9831-683C4593FA1C}" presName="tx1" presStyleLbl="revTx" presStyleIdx="2" presStyleCnt="5"/>
      <dgm:spPr/>
    </dgm:pt>
    <dgm:pt modelId="{96650147-7050-4131-8BCA-4D02F640A4BA}" type="pres">
      <dgm:prSet presAssocID="{BFFBFE5C-E2C5-4818-9831-683C4593FA1C}" presName="vert1" presStyleCnt="0"/>
      <dgm:spPr/>
    </dgm:pt>
    <dgm:pt modelId="{6506D296-A483-4E20-B250-3AEBBDB5547E}" type="pres">
      <dgm:prSet presAssocID="{7102E64F-50EB-4505-8191-C1829694814C}" presName="thickLine" presStyleLbl="alignNode1" presStyleIdx="3" presStyleCnt="5"/>
      <dgm:spPr/>
    </dgm:pt>
    <dgm:pt modelId="{B01FEE45-FEE5-4F2E-B28A-4FC64AAB36CA}" type="pres">
      <dgm:prSet presAssocID="{7102E64F-50EB-4505-8191-C1829694814C}" presName="horz1" presStyleCnt="0"/>
      <dgm:spPr/>
    </dgm:pt>
    <dgm:pt modelId="{4DB1E47E-77CE-4EDE-95E6-17D68DC9B849}" type="pres">
      <dgm:prSet presAssocID="{7102E64F-50EB-4505-8191-C1829694814C}" presName="tx1" presStyleLbl="revTx" presStyleIdx="3" presStyleCnt="5"/>
      <dgm:spPr/>
    </dgm:pt>
    <dgm:pt modelId="{B9B93D2C-826F-4B43-843D-1C267B97DD1F}" type="pres">
      <dgm:prSet presAssocID="{7102E64F-50EB-4505-8191-C1829694814C}" presName="vert1" presStyleCnt="0"/>
      <dgm:spPr/>
    </dgm:pt>
    <dgm:pt modelId="{46B1D84D-F61F-480B-B30A-9858A827FF93}" type="pres">
      <dgm:prSet presAssocID="{0C687D95-8142-4DC5-8C14-94A3F6EF7773}" presName="thickLine" presStyleLbl="alignNode1" presStyleIdx="4" presStyleCnt="5"/>
      <dgm:spPr/>
    </dgm:pt>
    <dgm:pt modelId="{8FCC022C-248D-47B0-B351-EA6A2206A722}" type="pres">
      <dgm:prSet presAssocID="{0C687D95-8142-4DC5-8C14-94A3F6EF7773}" presName="horz1" presStyleCnt="0"/>
      <dgm:spPr/>
    </dgm:pt>
    <dgm:pt modelId="{EA61536B-3498-49CB-AF9F-1C9B73712EC4}" type="pres">
      <dgm:prSet presAssocID="{0C687D95-8142-4DC5-8C14-94A3F6EF7773}" presName="tx1" presStyleLbl="revTx" presStyleIdx="4" presStyleCnt="5"/>
      <dgm:spPr/>
    </dgm:pt>
    <dgm:pt modelId="{9DD8B34E-3BE0-4363-8D2F-AFCDBD50D5A7}" type="pres">
      <dgm:prSet presAssocID="{0C687D95-8142-4DC5-8C14-94A3F6EF7773}" presName="vert1" presStyleCnt="0"/>
      <dgm:spPr/>
    </dgm:pt>
  </dgm:ptLst>
  <dgm:cxnLst>
    <dgm:cxn modelId="{84DAD301-6CD5-4574-A30C-07E440AF6148}" type="presOf" srcId="{4519F97F-C029-4A62-B96A-AAB776C05847}" destId="{1D85904C-4B07-4AF9-BA07-64D8651FE69C}" srcOrd="0" destOrd="0" presId="urn:microsoft.com/office/officeart/2008/layout/LinedList"/>
    <dgm:cxn modelId="{3348E01A-70DF-4150-A09C-22D86C929BEF}" srcId="{4519F97F-C029-4A62-B96A-AAB776C05847}" destId="{BFFBFE5C-E2C5-4818-9831-683C4593FA1C}" srcOrd="2" destOrd="0" parTransId="{D5CF834C-C72C-46F4-A9C4-00C5FE18E555}" sibTransId="{544F8E9A-36CA-4E85-A560-23183EFE0784}"/>
    <dgm:cxn modelId="{1FA96D22-428E-4C4D-806B-20D96E795A00}" srcId="{4519F97F-C029-4A62-B96A-AAB776C05847}" destId="{7102E64F-50EB-4505-8191-C1829694814C}" srcOrd="3" destOrd="0" parTransId="{A6760649-BD96-4E55-A3E7-D68E75CEC13C}" sibTransId="{60B3DDB8-335D-4AE2-962A-0A214865F666}"/>
    <dgm:cxn modelId="{FE2B4B29-D7B0-4E4A-9FA5-6F71CC94F852}" type="presOf" srcId="{BFFBFE5C-E2C5-4818-9831-683C4593FA1C}" destId="{0267D9D0-7251-428E-8779-6D5D4B5F80FB}" srcOrd="0" destOrd="0" presId="urn:microsoft.com/office/officeart/2008/layout/LinedList"/>
    <dgm:cxn modelId="{B2EF985E-824D-4F3B-90DD-F1ED631F28C0}" type="presOf" srcId="{7102E64F-50EB-4505-8191-C1829694814C}" destId="{4DB1E47E-77CE-4EDE-95E6-17D68DC9B849}" srcOrd="0" destOrd="0" presId="urn:microsoft.com/office/officeart/2008/layout/LinedList"/>
    <dgm:cxn modelId="{8A0CCA4D-CEF3-4530-98E1-7F05764A10B7}" srcId="{4519F97F-C029-4A62-B96A-AAB776C05847}" destId="{0C687D95-8142-4DC5-8C14-94A3F6EF7773}" srcOrd="4" destOrd="0" parTransId="{CB541745-9EA7-47C9-A0CC-8365E0AE3198}" sibTransId="{80EA290C-1627-4E78-910A-4F306AC61C30}"/>
    <dgm:cxn modelId="{71BA3155-E639-459D-B4E1-4657020F7877}" srcId="{4519F97F-C029-4A62-B96A-AAB776C05847}" destId="{FFFE42D8-6050-4931-88B7-8383118B6877}" srcOrd="1" destOrd="0" parTransId="{D4D1E326-838E-4BEF-A442-2BF2E8FB6DDF}" sibTransId="{F222C2E9-104A-4287-8708-A07061C1B3BC}"/>
    <dgm:cxn modelId="{6699E89D-A153-4A30-BB80-5E998F4BA3E0}" type="presOf" srcId="{00D3EEB6-9B82-46DF-BFD8-3CB07CBE055D}" destId="{8AD3965B-3524-4023-A3EE-2F881997244B}" srcOrd="0" destOrd="0" presId="urn:microsoft.com/office/officeart/2008/layout/LinedList"/>
    <dgm:cxn modelId="{128294CD-49EC-462B-8134-3DBDFECB2CA5}" type="presOf" srcId="{0C687D95-8142-4DC5-8C14-94A3F6EF7773}" destId="{EA61536B-3498-49CB-AF9F-1C9B73712EC4}" srcOrd="0" destOrd="0" presId="urn:microsoft.com/office/officeart/2008/layout/LinedList"/>
    <dgm:cxn modelId="{8CC3D8EA-78B4-4355-9090-787C29D96866}" srcId="{4519F97F-C029-4A62-B96A-AAB776C05847}" destId="{00D3EEB6-9B82-46DF-BFD8-3CB07CBE055D}" srcOrd="0" destOrd="0" parTransId="{6FF6F1FB-A7F6-43FE-B0A3-4BB3781F49EC}" sibTransId="{EF97DF9F-CFD4-454B-82D5-503038B9C1F7}"/>
    <dgm:cxn modelId="{CFE937EF-3E7F-45F3-95F7-71AB34CDFC43}" type="presOf" srcId="{FFFE42D8-6050-4931-88B7-8383118B6877}" destId="{7F7C9D45-7522-4BC2-9AB9-72D69A723338}" srcOrd="0" destOrd="0" presId="urn:microsoft.com/office/officeart/2008/layout/LinedList"/>
    <dgm:cxn modelId="{B4FB4113-D32F-453F-BF83-1C1F0406636F}" type="presParOf" srcId="{1D85904C-4B07-4AF9-BA07-64D8651FE69C}" destId="{6D92C830-7A1F-4E3A-802A-C75632F93EBF}" srcOrd="0" destOrd="0" presId="urn:microsoft.com/office/officeart/2008/layout/LinedList"/>
    <dgm:cxn modelId="{0A23EEB9-B724-45D6-8F4E-F16A9255EA75}" type="presParOf" srcId="{1D85904C-4B07-4AF9-BA07-64D8651FE69C}" destId="{1439B0EE-C786-40E5-9CFC-3C0B623E5FEA}" srcOrd="1" destOrd="0" presId="urn:microsoft.com/office/officeart/2008/layout/LinedList"/>
    <dgm:cxn modelId="{5F328C93-63D1-48D5-903B-94B90F60D353}" type="presParOf" srcId="{1439B0EE-C786-40E5-9CFC-3C0B623E5FEA}" destId="{8AD3965B-3524-4023-A3EE-2F881997244B}" srcOrd="0" destOrd="0" presId="urn:microsoft.com/office/officeart/2008/layout/LinedList"/>
    <dgm:cxn modelId="{89656570-55B3-45B1-B74D-0D0F60615C95}" type="presParOf" srcId="{1439B0EE-C786-40E5-9CFC-3C0B623E5FEA}" destId="{467A130D-C832-4B49-843A-0E584663B205}" srcOrd="1" destOrd="0" presId="urn:microsoft.com/office/officeart/2008/layout/LinedList"/>
    <dgm:cxn modelId="{42F1DC3E-1DB9-414F-9B78-360534B92345}" type="presParOf" srcId="{1D85904C-4B07-4AF9-BA07-64D8651FE69C}" destId="{237DFBEC-93D6-4C22-A9ED-D5B8C7733D56}" srcOrd="2" destOrd="0" presId="urn:microsoft.com/office/officeart/2008/layout/LinedList"/>
    <dgm:cxn modelId="{7B96A70A-6B09-4333-AF12-C213569A0E08}" type="presParOf" srcId="{1D85904C-4B07-4AF9-BA07-64D8651FE69C}" destId="{D917B236-CAB7-47A7-9CFF-D3AAF94EA6C8}" srcOrd="3" destOrd="0" presId="urn:microsoft.com/office/officeart/2008/layout/LinedList"/>
    <dgm:cxn modelId="{42C58C61-8A13-4F87-8D7C-E69032349E5A}" type="presParOf" srcId="{D917B236-CAB7-47A7-9CFF-D3AAF94EA6C8}" destId="{7F7C9D45-7522-4BC2-9AB9-72D69A723338}" srcOrd="0" destOrd="0" presId="urn:microsoft.com/office/officeart/2008/layout/LinedList"/>
    <dgm:cxn modelId="{B4D55182-319A-4693-ABD2-DED4B3F667FB}" type="presParOf" srcId="{D917B236-CAB7-47A7-9CFF-D3AAF94EA6C8}" destId="{818F8154-A694-478E-AD3D-6148141CA09F}" srcOrd="1" destOrd="0" presId="urn:microsoft.com/office/officeart/2008/layout/LinedList"/>
    <dgm:cxn modelId="{6A14B676-AA91-4BF4-9BC6-511E2C6EAE1A}" type="presParOf" srcId="{1D85904C-4B07-4AF9-BA07-64D8651FE69C}" destId="{84669C0F-7D80-44C2-8DE9-9705830F99DE}" srcOrd="4" destOrd="0" presId="urn:microsoft.com/office/officeart/2008/layout/LinedList"/>
    <dgm:cxn modelId="{EF63BA3F-D437-4E7F-A6C6-9DFB077D75C2}" type="presParOf" srcId="{1D85904C-4B07-4AF9-BA07-64D8651FE69C}" destId="{7A8B29D5-FF9D-412B-8BCC-865ADC37FE0D}" srcOrd="5" destOrd="0" presId="urn:microsoft.com/office/officeart/2008/layout/LinedList"/>
    <dgm:cxn modelId="{AF63713C-4842-4C13-B6A1-851CB778C7B5}" type="presParOf" srcId="{7A8B29D5-FF9D-412B-8BCC-865ADC37FE0D}" destId="{0267D9D0-7251-428E-8779-6D5D4B5F80FB}" srcOrd="0" destOrd="0" presId="urn:microsoft.com/office/officeart/2008/layout/LinedList"/>
    <dgm:cxn modelId="{CE3DE8D5-0208-4EF4-A12A-FBD9A3A69853}" type="presParOf" srcId="{7A8B29D5-FF9D-412B-8BCC-865ADC37FE0D}" destId="{96650147-7050-4131-8BCA-4D02F640A4BA}" srcOrd="1" destOrd="0" presId="urn:microsoft.com/office/officeart/2008/layout/LinedList"/>
    <dgm:cxn modelId="{4736FF9F-86C9-4C38-9E2A-E82E0414C024}" type="presParOf" srcId="{1D85904C-4B07-4AF9-BA07-64D8651FE69C}" destId="{6506D296-A483-4E20-B250-3AEBBDB5547E}" srcOrd="6" destOrd="0" presId="urn:microsoft.com/office/officeart/2008/layout/LinedList"/>
    <dgm:cxn modelId="{19EBFBB1-6FE0-43DE-A8AE-DDB2CC965785}" type="presParOf" srcId="{1D85904C-4B07-4AF9-BA07-64D8651FE69C}" destId="{B01FEE45-FEE5-4F2E-B28A-4FC64AAB36CA}" srcOrd="7" destOrd="0" presId="urn:microsoft.com/office/officeart/2008/layout/LinedList"/>
    <dgm:cxn modelId="{8C60762A-2341-46F5-9B53-49332A3DAA8D}" type="presParOf" srcId="{B01FEE45-FEE5-4F2E-B28A-4FC64AAB36CA}" destId="{4DB1E47E-77CE-4EDE-95E6-17D68DC9B849}" srcOrd="0" destOrd="0" presId="urn:microsoft.com/office/officeart/2008/layout/LinedList"/>
    <dgm:cxn modelId="{437497E9-7E33-4101-95FE-FFA1F3043909}" type="presParOf" srcId="{B01FEE45-FEE5-4F2E-B28A-4FC64AAB36CA}" destId="{B9B93D2C-826F-4B43-843D-1C267B97DD1F}" srcOrd="1" destOrd="0" presId="urn:microsoft.com/office/officeart/2008/layout/LinedList"/>
    <dgm:cxn modelId="{0DC3037B-789B-4048-8C5D-3B9F611436D9}" type="presParOf" srcId="{1D85904C-4B07-4AF9-BA07-64D8651FE69C}" destId="{46B1D84D-F61F-480B-B30A-9858A827FF93}" srcOrd="8" destOrd="0" presId="urn:microsoft.com/office/officeart/2008/layout/LinedList"/>
    <dgm:cxn modelId="{D2FCB632-A709-4FF6-9D63-E024C5EE66EC}" type="presParOf" srcId="{1D85904C-4B07-4AF9-BA07-64D8651FE69C}" destId="{8FCC022C-248D-47B0-B351-EA6A2206A722}" srcOrd="9" destOrd="0" presId="urn:microsoft.com/office/officeart/2008/layout/LinedList"/>
    <dgm:cxn modelId="{B12424FA-D111-4EB5-B755-E89F56A78F67}" type="presParOf" srcId="{8FCC022C-248D-47B0-B351-EA6A2206A722}" destId="{EA61536B-3498-49CB-AF9F-1C9B73712EC4}" srcOrd="0" destOrd="0" presId="urn:microsoft.com/office/officeart/2008/layout/LinedList"/>
    <dgm:cxn modelId="{3700B88C-453E-4D83-A885-D6E5F6EF1CEA}" type="presParOf" srcId="{8FCC022C-248D-47B0-B351-EA6A2206A722}" destId="{9DD8B34E-3BE0-4363-8D2F-AFCDBD50D5A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214378-2C01-48C9-9257-56662BECBBB1}">
      <dsp:nvSpPr>
        <dsp:cNvPr id="0" name=""/>
        <dsp:cNvSpPr/>
      </dsp:nvSpPr>
      <dsp:spPr>
        <a:xfrm>
          <a:off x="0" y="120180"/>
          <a:ext cx="6492875" cy="115362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baseline="0"/>
            <a:t>Fit.ly is experiencing elevated customer churn across free and paid plans.</a:t>
          </a:r>
          <a:endParaRPr lang="en-US" sz="2900" kern="1200"/>
        </a:p>
      </dsp:txBody>
      <dsp:txXfrm>
        <a:off x="56315" y="176495"/>
        <a:ext cx="6380245" cy="1040990"/>
      </dsp:txXfrm>
    </dsp:sp>
    <dsp:sp modelId="{08A0BD69-ED24-4206-859D-AA375B914A95}">
      <dsp:nvSpPr>
        <dsp:cNvPr id="0" name=""/>
        <dsp:cNvSpPr/>
      </dsp:nvSpPr>
      <dsp:spPr>
        <a:xfrm>
          <a:off x="0" y="1357320"/>
          <a:ext cx="6492875" cy="1153620"/>
        </a:xfrm>
        <a:prstGeom prst="roundRect">
          <a:avLst/>
        </a:prstGeom>
        <a:solidFill>
          <a:schemeClr val="accent2">
            <a:hueOff val="-1197987"/>
            <a:satOff val="8241"/>
            <a:lumOff val="91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baseline="0"/>
            <a:t>Engagement and support interactions strongly correlate with churn.</a:t>
          </a:r>
          <a:endParaRPr lang="en-US" sz="2900" kern="1200"/>
        </a:p>
      </dsp:txBody>
      <dsp:txXfrm>
        <a:off x="56315" y="1413635"/>
        <a:ext cx="6380245" cy="1040990"/>
      </dsp:txXfrm>
    </dsp:sp>
    <dsp:sp modelId="{C3EF4614-0D2F-4ED9-A734-FB368FFE91C3}">
      <dsp:nvSpPr>
        <dsp:cNvPr id="0" name=""/>
        <dsp:cNvSpPr/>
      </dsp:nvSpPr>
      <dsp:spPr>
        <a:xfrm>
          <a:off x="0" y="2594459"/>
          <a:ext cx="6492875" cy="1153620"/>
        </a:xfrm>
        <a:prstGeom prst="roundRect">
          <a:avLst/>
        </a:prstGeom>
        <a:solidFill>
          <a:schemeClr val="accent2">
            <a:hueOff val="-2395974"/>
            <a:satOff val="16481"/>
            <a:lumOff val="1829"/>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baseline="0"/>
            <a:t>Three datasets were validated, cleaned, and analyzed using R.</a:t>
          </a:r>
          <a:endParaRPr lang="en-US" sz="2900" kern="1200"/>
        </a:p>
      </dsp:txBody>
      <dsp:txXfrm>
        <a:off x="56315" y="2650774"/>
        <a:ext cx="6380245" cy="1040990"/>
      </dsp:txXfrm>
    </dsp:sp>
    <dsp:sp modelId="{F7A826F1-C04A-4391-B66D-0880BA3131D8}">
      <dsp:nvSpPr>
        <dsp:cNvPr id="0" name=""/>
        <dsp:cNvSpPr/>
      </dsp:nvSpPr>
      <dsp:spPr>
        <a:xfrm>
          <a:off x="0" y="3831600"/>
          <a:ext cx="6492875" cy="1153620"/>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baseline="0"/>
            <a:t>Clear patterns emerged to guide effective retention initiatives.</a:t>
          </a:r>
          <a:endParaRPr lang="en-US" sz="2900" kern="1200"/>
        </a:p>
      </dsp:txBody>
      <dsp:txXfrm>
        <a:off x="56315" y="3887915"/>
        <a:ext cx="6380245" cy="10409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92C830-7A1F-4E3A-802A-C75632F93EBF}">
      <dsp:nvSpPr>
        <dsp:cNvPr id="0" name=""/>
        <dsp:cNvSpPr/>
      </dsp:nvSpPr>
      <dsp:spPr>
        <a:xfrm>
          <a:off x="0" y="623"/>
          <a:ext cx="6492875"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D3965B-3524-4023-A3EE-2F881997244B}">
      <dsp:nvSpPr>
        <dsp:cNvPr id="0" name=""/>
        <dsp:cNvSpPr/>
      </dsp:nvSpPr>
      <dsp:spPr>
        <a:xfrm>
          <a:off x="0" y="623"/>
          <a:ext cx="6492875"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a:t>Strengthen early engagement</a:t>
          </a:r>
          <a:r>
            <a:rPr lang="en-US" sz="2500" kern="1200"/>
            <a:t> - </a:t>
          </a:r>
          <a:r>
            <a:rPr lang="en-US" sz="2500" b="0" i="0" kern="1200" baseline="0"/>
            <a:t>Drive users to complete 2+ actions in first week.</a:t>
          </a:r>
          <a:endParaRPr lang="en-US" sz="2500" kern="1200"/>
        </a:p>
      </dsp:txBody>
      <dsp:txXfrm>
        <a:off x="0" y="623"/>
        <a:ext cx="6492875" cy="1020830"/>
      </dsp:txXfrm>
    </dsp:sp>
    <dsp:sp modelId="{237DFBEC-93D6-4C22-A9ED-D5B8C7733D56}">
      <dsp:nvSpPr>
        <dsp:cNvPr id="0" name=""/>
        <dsp:cNvSpPr/>
      </dsp:nvSpPr>
      <dsp:spPr>
        <a:xfrm>
          <a:off x="0" y="1021453"/>
          <a:ext cx="6492875" cy="0"/>
        </a:xfrm>
        <a:prstGeom prst="line">
          <a:avLst/>
        </a:prstGeom>
        <a:solidFill>
          <a:schemeClr val="accent2">
            <a:hueOff val="-898490"/>
            <a:satOff val="6181"/>
            <a:lumOff val="686"/>
            <a:alphaOff val="0"/>
          </a:schemeClr>
        </a:solidFill>
        <a:ln w="15875" cap="rnd" cmpd="sng" algn="ctr">
          <a:solidFill>
            <a:schemeClr val="accent2">
              <a:hueOff val="-898490"/>
              <a:satOff val="6181"/>
              <a:lumOff val="68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7C9D45-7522-4BC2-9AB9-72D69A723338}">
      <dsp:nvSpPr>
        <dsp:cNvPr id="0" name=""/>
        <dsp:cNvSpPr/>
      </dsp:nvSpPr>
      <dsp:spPr>
        <a:xfrm>
          <a:off x="0" y="1021453"/>
          <a:ext cx="6492875"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a:t>Proactive support for high-risk users</a:t>
          </a:r>
          <a:r>
            <a:rPr lang="en-US" sz="2500" kern="1200"/>
            <a:t> - </a:t>
          </a:r>
          <a:r>
            <a:rPr lang="en-US" sz="2500" b="0" i="0" kern="1200" baseline="0"/>
            <a:t>0-event users, multi-ticket users.</a:t>
          </a:r>
          <a:endParaRPr lang="en-US" sz="2500" kern="1200"/>
        </a:p>
      </dsp:txBody>
      <dsp:txXfrm>
        <a:off x="0" y="1021453"/>
        <a:ext cx="6492875" cy="1020830"/>
      </dsp:txXfrm>
    </dsp:sp>
    <dsp:sp modelId="{84669C0F-7D80-44C2-8DE9-9705830F99DE}">
      <dsp:nvSpPr>
        <dsp:cNvPr id="0" name=""/>
        <dsp:cNvSpPr/>
      </dsp:nvSpPr>
      <dsp:spPr>
        <a:xfrm>
          <a:off x="0" y="2042284"/>
          <a:ext cx="6492875" cy="0"/>
        </a:xfrm>
        <a:prstGeom prst="line">
          <a:avLst/>
        </a:prstGeom>
        <a:solidFill>
          <a:schemeClr val="accent2">
            <a:hueOff val="-1796981"/>
            <a:satOff val="12361"/>
            <a:lumOff val="1372"/>
            <a:alphaOff val="0"/>
          </a:schemeClr>
        </a:solidFill>
        <a:ln w="15875" cap="rnd" cmpd="sng" algn="ctr">
          <a:solidFill>
            <a:schemeClr val="accent2">
              <a:hueOff val="-1796981"/>
              <a:satOff val="12361"/>
              <a:lumOff val="137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67D9D0-7251-428E-8779-6D5D4B5F80FB}">
      <dsp:nvSpPr>
        <dsp:cNvPr id="0" name=""/>
        <dsp:cNvSpPr/>
      </dsp:nvSpPr>
      <dsp:spPr>
        <a:xfrm>
          <a:off x="0" y="2042284"/>
          <a:ext cx="6492875"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a:t>Improve support response times</a:t>
          </a:r>
          <a:r>
            <a:rPr lang="en-US" sz="2500" kern="1200"/>
            <a:t> - </a:t>
          </a:r>
          <a:r>
            <a:rPr lang="en-US" sz="2500" b="0" i="0" kern="1200" baseline="0"/>
            <a:t>Especially for technical/account issues.</a:t>
          </a:r>
          <a:endParaRPr lang="en-US" sz="2500" kern="1200"/>
        </a:p>
      </dsp:txBody>
      <dsp:txXfrm>
        <a:off x="0" y="2042284"/>
        <a:ext cx="6492875" cy="1020830"/>
      </dsp:txXfrm>
    </dsp:sp>
    <dsp:sp modelId="{6506D296-A483-4E20-B250-3AEBBDB5547E}">
      <dsp:nvSpPr>
        <dsp:cNvPr id="0" name=""/>
        <dsp:cNvSpPr/>
      </dsp:nvSpPr>
      <dsp:spPr>
        <a:xfrm>
          <a:off x="0" y="3063115"/>
          <a:ext cx="6492875" cy="0"/>
        </a:xfrm>
        <a:prstGeom prst="line">
          <a:avLst/>
        </a:prstGeom>
        <a:solidFill>
          <a:schemeClr val="accent2">
            <a:hueOff val="-2695471"/>
            <a:satOff val="18542"/>
            <a:lumOff val="2058"/>
            <a:alphaOff val="0"/>
          </a:schemeClr>
        </a:solidFill>
        <a:ln w="15875" cap="rnd" cmpd="sng" algn="ctr">
          <a:solidFill>
            <a:schemeClr val="accent2">
              <a:hueOff val="-2695471"/>
              <a:satOff val="18542"/>
              <a:lumOff val="205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B1E47E-77CE-4EDE-95E6-17D68DC9B849}">
      <dsp:nvSpPr>
        <dsp:cNvPr id="0" name=""/>
        <dsp:cNvSpPr/>
      </dsp:nvSpPr>
      <dsp:spPr>
        <a:xfrm>
          <a:off x="0" y="3063115"/>
          <a:ext cx="6492875"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a:t>Enhance Free tier activation</a:t>
          </a:r>
          <a:r>
            <a:rPr lang="en-US" sz="2500" kern="1200"/>
            <a:t> - </a:t>
          </a:r>
          <a:r>
            <a:rPr lang="en-US" sz="2500" b="0" i="0" kern="1200" baseline="0"/>
            <a:t>Better onboarding, in-app nudges, upgrade guidance.</a:t>
          </a:r>
          <a:endParaRPr lang="en-US" sz="2500" kern="1200"/>
        </a:p>
      </dsp:txBody>
      <dsp:txXfrm>
        <a:off x="0" y="3063115"/>
        <a:ext cx="6492875" cy="1020830"/>
      </dsp:txXfrm>
    </dsp:sp>
    <dsp:sp modelId="{46B1D84D-F61F-480B-B30A-9858A827FF93}">
      <dsp:nvSpPr>
        <dsp:cNvPr id="0" name=""/>
        <dsp:cNvSpPr/>
      </dsp:nvSpPr>
      <dsp:spPr>
        <a:xfrm>
          <a:off x="0" y="4083946"/>
          <a:ext cx="6492875" cy="0"/>
        </a:xfrm>
        <a:prstGeom prst="line">
          <a:avLst/>
        </a:prstGeom>
        <a:solidFill>
          <a:schemeClr val="accent2">
            <a:hueOff val="-3593961"/>
            <a:satOff val="24722"/>
            <a:lumOff val="2744"/>
            <a:alphaOff val="0"/>
          </a:schemeClr>
        </a:solidFill>
        <a:ln w="15875" cap="rnd" cmpd="sng" algn="ctr">
          <a:solidFill>
            <a:schemeClr val="accent2">
              <a:hueOff val="-3593961"/>
              <a:satOff val="24722"/>
              <a:lumOff val="274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61536B-3498-49CB-AF9F-1C9B73712EC4}">
      <dsp:nvSpPr>
        <dsp:cNvPr id="0" name=""/>
        <dsp:cNvSpPr/>
      </dsp:nvSpPr>
      <dsp:spPr>
        <a:xfrm>
          <a:off x="0" y="4083946"/>
          <a:ext cx="6492875"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a:t>Establish churn dashboards</a:t>
          </a:r>
          <a:r>
            <a:rPr lang="en-US" sz="2500" kern="1200"/>
            <a:t> - </a:t>
          </a:r>
          <a:r>
            <a:rPr lang="en-US" sz="2500" b="0" i="0" kern="1200" baseline="0"/>
            <a:t>Track monthly churn segmented by behavior and plan.</a:t>
          </a:r>
          <a:endParaRPr lang="en-US" sz="2500" kern="1200"/>
        </a:p>
      </dsp:txBody>
      <dsp:txXfrm>
        <a:off x="0" y="4083946"/>
        <a:ext cx="6492875" cy="102083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0A95A9-0597-4D42-90A6-1AD08C4F8C8A}"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D27511-DBEB-4652-A574-44D2514E2445}" type="slidenum">
              <a:rPr lang="en-US" smtClean="0"/>
              <a:t>‹#›</a:t>
            </a:fld>
            <a:endParaRPr lang="en-US"/>
          </a:p>
        </p:txBody>
      </p:sp>
    </p:spTree>
    <p:extLst>
      <p:ext uri="{BB962C8B-B14F-4D97-AF65-F5344CB8AC3E}">
        <p14:creationId xmlns:p14="http://schemas.microsoft.com/office/powerpoint/2010/main" val="2496359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Munem Shariar Shams and I will now be presenting my findings on customer churn at Fit.ly, based on three validated datasets: account information, user activity, and customer support.”</a:t>
            </a:r>
          </a:p>
        </p:txBody>
      </p:sp>
      <p:sp>
        <p:nvSpPr>
          <p:cNvPr id="4" name="Slide Number Placeholder 3"/>
          <p:cNvSpPr>
            <a:spLocks noGrp="1"/>
          </p:cNvSpPr>
          <p:nvPr>
            <p:ph type="sldNum" sz="quarter" idx="5"/>
          </p:nvPr>
        </p:nvSpPr>
        <p:spPr/>
        <p:txBody>
          <a:bodyPr/>
          <a:lstStyle/>
          <a:p>
            <a:fld id="{7DD27511-DBEB-4652-A574-44D2514E2445}" type="slidenum">
              <a:rPr lang="en-US" smtClean="0"/>
              <a:t>1</a:t>
            </a:fld>
            <a:endParaRPr lang="en-US"/>
          </a:p>
        </p:txBody>
      </p:sp>
    </p:spTree>
    <p:extLst>
      <p:ext uri="{BB962C8B-B14F-4D97-AF65-F5344CB8AC3E}">
        <p14:creationId xmlns:p14="http://schemas.microsoft.com/office/powerpoint/2010/main" val="847422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“Fit.ly is experiencing elevated churn across both free and paid plans. My analysis shows that engagement and support interactions are strongly linked to churn. After cleaning and validating the datasets, several clear behavioral patterns emerged that can directly inform retention strategy.”</a:t>
            </a:r>
          </a:p>
        </p:txBody>
      </p:sp>
      <p:sp>
        <p:nvSpPr>
          <p:cNvPr id="4" name="Slide Number Placeholder 3"/>
          <p:cNvSpPr>
            <a:spLocks noGrp="1"/>
          </p:cNvSpPr>
          <p:nvPr>
            <p:ph type="sldNum" sz="quarter" idx="5"/>
          </p:nvPr>
        </p:nvSpPr>
        <p:spPr/>
        <p:txBody>
          <a:bodyPr/>
          <a:lstStyle/>
          <a:p>
            <a:fld id="{7DD27511-DBEB-4652-A574-44D2514E2445}" type="slidenum">
              <a:rPr lang="en-US" smtClean="0"/>
              <a:t>2</a:t>
            </a:fld>
            <a:endParaRPr lang="en-US"/>
          </a:p>
        </p:txBody>
      </p:sp>
    </p:spTree>
    <p:extLst>
      <p:ext uri="{BB962C8B-B14F-4D97-AF65-F5344CB8AC3E}">
        <p14:creationId xmlns:p14="http://schemas.microsoft.com/office/powerpoint/2010/main" val="1732305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leadership team wants to understand who is churning, why they are churning, and what actions can reduce churn. The purpose of this analysis is to provide data-driven insights and recommendations that are immediately actionable.”</a:t>
            </a:r>
          </a:p>
        </p:txBody>
      </p:sp>
      <p:sp>
        <p:nvSpPr>
          <p:cNvPr id="4" name="Slide Number Placeholder 3"/>
          <p:cNvSpPr>
            <a:spLocks noGrp="1"/>
          </p:cNvSpPr>
          <p:nvPr>
            <p:ph type="sldNum" sz="quarter" idx="5"/>
          </p:nvPr>
        </p:nvSpPr>
        <p:spPr/>
        <p:txBody>
          <a:bodyPr/>
          <a:lstStyle/>
          <a:p>
            <a:fld id="{7DD27511-DBEB-4652-A574-44D2514E2445}" type="slidenum">
              <a:rPr lang="en-US" smtClean="0"/>
              <a:t>3</a:t>
            </a:fld>
            <a:endParaRPr lang="en-US"/>
          </a:p>
        </p:txBody>
      </p:sp>
    </p:spTree>
    <p:extLst>
      <p:ext uri="{BB962C8B-B14F-4D97-AF65-F5344CB8AC3E}">
        <p14:creationId xmlns:p14="http://schemas.microsoft.com/office/powerpoint/2010/main" val="571140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datasets were validated for completeness and consistency. I standardized churn labels, constructed a churn flag, and created derived variables such as engagement buckets and ticket groups. No users were removed; missing activity was treated as meaningful behavior.”</a:t>
            </a:r>
          </a:p>
        </p:txBody>
      </p:sp>
      <p:sp>
        <p:nvSpPr>
          <p:cNvPr id="4" name="Slide Number Placeholder 3"/>
          <p:cNvSpPr>
            <a:spLocks noGrp="1"/>
          </p:cNvSpPr>
          <p:nvPr>
            <p:ph type="sldNum" sz="quarter" idx="5"/>
          </p:nvPr>
        </p:nvSpPr>
        <p:spPr/>
        <p:txBody>
          <a:bodyPr/>
          <a:lstStyle/>
          <a:p>
            <a:fld id="{7DD27511-DBEB-4652-A574-44D2514E2445}" type="slidenum">
              <a:rPr lang="en-US" smtClean="0"/>
              <a:t>4</a:t>
            </a:fld>
            <a:endParaRPr lang="en-US"/>
          </a:p>
        </p:txBody>
      </p:sp>
    </p:spTree>
    <p:extLst>
      <p:ext uri="{BB962C8B-B14F-4D97-AF65-F5344CB8AC3E}">
        <p14:creationId xmlns:p14="http://schemas.microsoft.com/office/powerpoint/2010/main" val="1758197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 customer base, Free and Basic tiers are the largest. Churn exists across all paid plans, indicating that retention issues extend beyond pricing. The Free tier represents a major opportunity for improving onboarding and activation.”</a:t>
            </a:r>
          </a:p>
        </p:txBody>
      </p:sp>
      <p:sp>
        <p:nvSpPr>
          <p:cNvPr id="4" name="Slide Number Placeholder 3"/>
          <p:cNvSpPr>
            <a:spLocks noGrp="1"/>
          </p:cNvSpPr>
          <p:nvPr>
            <p:ph type="sldNum" sz="quarter" idx="5"/>
          </p:nvPr>
        </p:nvSpPr>
        <p:spPr/>
        <p:txBody>
          <a:bodyPr/>
          <a:lstStyle/>
          <a:p>
            <a:fld id="{7DD27511-DBEB-4652-A574-44D2514E2445}" type="slidenum">
              <a:rPr lang="en-US" smtClean="0"/>
              <a:t>5</a:t>
            </a:fld>
            <a:endParaRPr lang="en-US"/>
          </a:p>
        </p:txBody>
      </p:sp>
    </p:spTree>
    <p:extLst>
      <p:ext uri="{BB962C8B-B14F-4D97-AF65-F5344CB8AC3E}">
        <p14:creationId xmlns:p14="http://schemas.microsoft.com/office/powerpoint/2010/main" val="2263897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support issues are resolved within 5 to 14 hours. However, there is a long tail of cases that exceed 24 hours. These delays may contribute to dissatisfaction, especially for technical or account-related tickets.”</a:t>
            </a:r>
          </a:p>
        </p:txBody>
      </p:sp>
      <p:sp>
        <p:nvSpPr>
          <p:cNvPr id="4" name="Slide Number Placeholder 3"/>
          <p:cNvSpPr>
            <a:spLocks noGrp="1"/>
          </p:cNvSpPr>
          <p:nvPr>
            <p:ph type="sldNum" sz="quarter" idx="5"/>
          </p:nvPr>
        </p:nvSpPr>
        <p:spPr/>
        <p:txBody>
          <a:bodyPr/>
          <a:lstStyle/>
          <a:p>
            <a:fld id="{7DD27511-DBEB-4652-A574-44D2514E2445}" type="slidenum">
              <a:rPr lang="en-US" smtClean="0"/>
              <a:t>6</a:t>
            </a:fld>
            <a:endParaRPr lang="en-US"/>
          </a:p>
        </p:txBody>
      </p:sp>
    </p:spTree>
    <p:extLst>
      <p:ext uri="{BB962C8B-B14F-4D97-AF65-F5344CB8AC3E}">
        <p14:creationId xmlns:p14="http://schemas.microsoft.com/office/powerpoint/2010/main" val="711264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is the strongest predictor of retention. Users who record zero events churn at nearly 54%, while churn drops below 6% for users who complete two or more actions. This highlights the importance of driving early product engagement.”</a:t>
            </a:r>
          </a:p>
        </p:txBody>
      </p:sp>
      <p:sp>
        <p:nvSpPr>
          <p:cNvPr id="4" name="Slide Number Placeholder 3"/>
          <p:cNvSpPr>
            <a:spLocks noGrp="1"/>
          </p:cNvSpPr>
          <p:nvPr>
            <p:ph type="sldNum" sz="quarter" idx="5"/>
          </p:nvPr>
        </p:nvSpPr>
        <p:spPr/>
        <p:txBody>
          <a:bodyPr/>
          <a:lstStyle/>
          <a:p>
            <a:fld id="{7DD27511-DBEB-4652-A574-44D2514E2445}" type="slidenum">
              <a:rPr lang="en-US" smtClean="0"/>
              <a:t>7</a:t>
            </a:fld>
            <a:endParaRPr lang="en-US"/>
          </a:p>
        </p:txBody>
      </p:sp>
    </p:spTree>
    <p:extLst>
      <p:ext uri="{BB962C8B-B14F-4D97-AF65-F5344CB8AC3E}">
        <p14:creationId xmlns:p14="http://schemas.microsoft.com/office/powerpoint/2010/main" val="2073202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who contact support churn at roughly double the rate of those who never open a ticket. This suggests that product friction or unresolved issues are key factors.”</a:t>
            </a:r>
          </a:p>
        </p:txBody>
      </p:sp>
      <p:sp>
        <p:nvSpPr>
          <p:cNvPr id="4" name="Slide Number Placeholder 3"/>
          <p:cNvSpPr>
            <a:spLocks noGrp="1"/>
          </p:cNvSpPr>
          <p:nvPr>
            <p:ph type="sldNum" sz="quarter" idx="5"/>
          </p:nvPr>
        </p:nvSpPr>
        <p:spPr/>
        <p:txBody>
          <a:bodyPr/>
          <a:lstStyle/>
          <a:p>
            <a:fld id="{7DD27511-DBEB-4652-A574-44D2514E2445}" type="slidenum">
              <a:rPr lang="en-US" smtClean="0"/>
              <a:t>8</a:t>
            </a:fld>
            <a:endParaRPr lang="en-US"/>
          </a:p>
        </p:txBody>
      </p:sp>
    </p:spTree>
    <p:extLst>
      <p:ext uri="{BB962C8B-B14F-4D97-AF65-F5344CB8AC3E}">
        <p14:creationId xmlns:p14="http://schemas.microsoft.com/office/powerpoint/2010/main" val="9898923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recommend monitoring Monthly Churn Rate as the primary KPI, segmented by plan, engagement level, and support intensity. The current baseline churn rate is 28.5%.”</a:t>
            </a:r>
          </a:p>
          <a:p>
            <a:endParaRPr lang="en-US" dirty="0"/>
          </a:p>
        </p:txBody>
      </p:sp>
      <p:sp>
        <p:nvSpPr>
          <p:cNvPr id="4" name="Slide Number Placeholder 3"/>
          <p:cNvSpPr>
            <a:spLocks noGrp="1"/>
          </p:cNvSpPr>
          <p:nvPr>
            <p:ph type="sldNum" sz="quarter" idx="5"/>
          </p:nvPr>
        </p:nvSpPr>
        <p:spPr/>
        <p:txBody>
          <a:bodyPr/>
          <a:lstStyle/>
          <a:p>
            <a:fld id="{7DD27511-DBEB-4652-A574-44D2514E2445}" type="slidenum">
              <a:rPr lang="en-US" smtClean="0"/>
              <a:t>9</a:t>
            </a:fld>
            <a:endParaRPr lang="en-US"/>
          </a:p>
        </p:txBody>
      </p:sp>
    </p:spTree>
    <p:extLst>
      <p:ext uri="{BB962C8B-B14F-4D97-AF65-F5344CB8AC3E}">
        <p14:creationId xmlns:p14="http://schemas.microsoft.com/office/powerpoint/2010/main" val="19459010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reduce churn, I recommend five actions. First, strengthen early engagement to ensure users complete at least two meaningful actions. Second, proactively contact high-risk users, such as those with zero events or multiple tickets. Third, focus on reducing long-tail support resolution times. Fourth, improve Free tier onboarding. </a:t>
            </a:r>
            <a:r>
              <a:rPr lang="en-US"/>
              <a:t>And finally, establish churn dashboards to track progress over time.”</a:t>
            </a:r>
          </a:p>
        </p:txBody>
      </p:sp>
      <p:sp>
        <p:nvSpPr>
          <p:cNvPr id="4" name="Slide Number Placeholder 3"/>
          <p:cNvSpPr>
            <a:spLocks noGrp="1"/>
          </p:cNvSpPr>
          <p:nvPr>
            <p:ph type="sldNum" sz="quarter" idx="5"/>
          </p:nvPr>
        </p:nvSpPr>
        <p:spPr/>
        <p:txBody>
          <a:bodyPr/>
          <a:lstStyle/>
          <a:p>
            <a:fld id="{7DD27511-DBEB-4652-A574-44D2514E2445}" type="slidenum">
              <a:rPr lang="en-US" smtClean="0"/>
              <a:t>10</a:t>
            </a:fld>
            <a:endParaRPr lang="en-US"/>
          </a:p>
        </p:txBody>
      </p:sp>
    </p:spTree>
    <p:extLst>
      <p:ext uri="{BB962C8B-B14F-4D97-AF65-F5344CB8AC3E}">
        <p14:creationId xmlns:p14="http://schemas.microsoft.com/office/powerpoint/2010/main" val="1569224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16D8A4-0821-4F13-BD50-BD233C163646}" type="datetimeFigureOut">
              <a:rPr lang="en-US" smtClean="0"/>
              <a:t>2/21/2026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3003200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16D8A4-0821-4F13-BD50-BD233C163646}"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2845535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16D8A4-0821-4F13-BD50-BD233C163646}"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3230977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16D8A4-0821-4F13-BD50-BD233C163646}"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402975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16D8A4-0821-4F13-BD50-BD233C163646}"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3930458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16D8A4-0821-4F13-BD50-BD233C163646}" type="datetimeFigureOut">
              <a:rPr lang="en-US" smtClean="0"/>
              <a:t>2/21/2026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1840506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16D8A4-0821-4F13-BD50-BD233C163646}" type="datetimeFigureOut">
              <a:rPr lang="en-US" smtClean="0"/>
              <a:t>2/21/2026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280297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16D8A4-0821-4F13-BD50-BD233C163646}"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3741196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16D8A4-0821-4F13-BD50-BD233C163646}"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23623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16D8A4-0821-4F13-BD50-BD233C163646}"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544879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16D8A4-0821-4F13-BD50-BD233C163646}"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39110584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16D8A4-0821-4F13-BD50-BD233C163646}"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2966269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16D8A4-0821-4F13-BD50-BD233C163646}"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30428156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16D8A4-0821-4F13-BD50-BD233C163646}"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4062279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16D8A4-0821-4F13-BD50-BD233C163646}"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3990997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16D8A4-0821-4F13-BD50-BD233C163646}"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3186621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16D8A4-0821-4F13-BD50-BD233C163646}"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818F19-93FC-44D3-858D-3E3D72597371}" type="slidenum">
              <a:rPr lang="en-US" smtClean="0"/>
              <a:t>‹#›</a:t>
            </a:fld>
            <a:endParaRPr lang="en-US"/>
          </a:p>
        </p:txBody>
      </p:sp>
    </p:spTree>
    <p:extLst>
      <p:ext uri="{BB962C8B-B14F-4D97-AF65-F5344CB8AC3E}">
        <p14:creationId xmlns:p14="http://schemas.microsoft.com/office/powerpoint/2010/main" val="1884633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616D8A4-0821-4F13-BD50-BD233C163646}" type="datetimeFigureOut">
              <a:rPr lang="en-US" smtClean="0"/>
              <a:t>2/21/2026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B818F19-93FC-44D3-858D-3E3D72597371}" type="slidenum">
              <a:rPr lang="en-US" smtClean="0"/>
              <a:t>‹#›</a:t>
            </a:fld>
            <a:endParaRPr lang="en-US"/>
          </a:p>
        </p:txBody>
      </p:sp>
    </p:spTree>
    <p:extLst>
      <p:ext uri="{BB962C8B-B14F-4D97-AF65-F5344CB8AC3E}">
        <p14:creationId xmlns:p14="http://schemas.microsoft.com/office/powerpoint/2010/main" val="16048990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A2BE0-8B89-B332-7254-E1754D43F396}"/>
              </a:ext>
            </a:extLst>
          </p:cNvPr>
          <p:cNvSpPr>
            <a:spLocks noGrp="1"/>
          </p:cNvSpPr>
          <p:nvPr>
            <p:ph type="ctrTitle"/>
          </p:nvPr>
        </p:nvSpPr>
        <p:spPr>
          <a:xfrm>
            <a:off x="2928401" y="245534"/>
            <a:ext cx="8574621" cy="2616199"/>
          </a:xfrm>
        </p:spPr>
        <p:txBody>
          <a:bodyPr>
            <a:normAutofit/>
          </a:bodyPr>
          <a:lstStyle/>
          <a:p>
            <a:r>
              <a:rPr lang="en-US" sz="4800" dirty="0"/>
              <a:t>Fit.ly Customer Churn Analysis</a:t>
            </a:r>
          </a:p>
        </p:txBody>
      </p:sp>
      <p:sp>
        <p:nvSpPr>
          <p:cNvPr id="3" name="Subtitle 2">
            <a:extLst>
              <a:ext uri="{FF2B5EF4-FFF2-40B4-BE49-F238E27FC236}">
                <a16:creationId xmlns:a16="http://schemas.microsoft.com/office/drawing/2014/main" id="{745288A3-2B56-C47C-3B13-8BFA7B930CDE}"/>
              </a:ext>
            </a:extLst>
          </p:cNvPr>
          <p:cNvSpPr>
            <a:spLocks noGrp="1"/>
          </p:cNvSpPr>
          <p:nvPr>
            <p:ph type="subTitle" idx="1"/>
          </p:nvPr>
        </p:nvSpPr>
        <p:spPr/>
        <p:txBody>
          <a:bodyPr/>
          <a:lstStyle/>
          <a:p>
            <a:endParaRPr lang="en-US" b="1" dirty="0"/>
          </a:p>
          <a:p>
            <a:r>
              <a:rPr lang="en-US" b="1" dirty="0"/>
              <a:t>Prepared by:</a:t>
            </a:r>
            <a:r>
              <a:rPr lang="en-US" dirty="0"/>
              <a:t> </a:t>
            </a:r>
            <a:r>
              <a:rPr lang="en-US" b="1" dirty="0"/>
              <a:t>Munem Shariar Shams</a:t>
            </a:r>
          </a:p>
        </p:txBody>
      </p:sp>
    </p:spTree>
    <p:extLst>
      <p:ext uri="{BB962C8B-B14F-4D97-AF65-F5344CB8AC3E}">
        <p14:creationId xmlns:p14="http://schemas.microsoft.com/office/powerpoint/2010/main" val="3356034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6B59D602-8E42-ABDE-69E0-F15D5C283376}"/>
              </a:ext>
            </a:extLst>
          </p:cNvPr>
          <p:cNvSpPr>
            <a:spLocks noGrp="1"/>
          </p:cNvSpPr>
          <p:nvPr>
            <p:ph type="title"/>
          </p:nvPr>
        </p:nvSpPr>
        <p:spPr>
          <a:xfrm>
            <a:off x="535021" y="685800"/>
            <a:ext cx="2639962" cy="5105400"/>
          </a:xfrm>
        </p:spPr>
        <p:txBody>
          <a:bodyPr>
            <a:normAutofit/>
          </a:bodyPr>
          <a:lstStyle/>
          <a:p>
            <a:r>
              <a:rPr lang="en-US">
                <a:solidFill>
                  <a:srgbClr val="FFFFFF"/>
                </a:solidFill>
              </a:rPr>
              <a:t>Executive Summary</a:t>
            </a:r>
          </a:p>
        </p:txBody>
      </p:sp>
      <p:grpSp>
        <p:nvGrpSpPr>
          <p:cNvPr id="14" name="Group 13">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5"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6"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7"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8"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9"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0"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6" name="Rectangle 1">
            <a:extLst>
              <a:ext uri="{FF2B5EF4-FFF2-40B4-BE49-F238E27FC236}">
                <a16:creationId xmlns:a16="http://schemas.microsoft.com/office/drawing/2014/main" id="{3D34E100-EB64-BADE-535E-18E0FEA2AC02}"/>
              </a:ext>
            </a:extLst>
          </p:cNvPr>
          <p:cNvGraphicFramePr>
            <a:graphicFrameLocks noGrp="1"/>
          </p:cNvGraphicFramePr>
          <p:nvPr>
            <p:ph idx="1"/>
            <p:extLst>
              <p:ext uri="{D42A27DB-BD31-4B8C-83A1-F6EECF244321}">
                <p14:modId xmlns:p14="http://schemas.microsoft.com/office/powerpoint/2010/main" val="902415745"/>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1487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8643778-7F6C-4E8D-84D1-D5CDB99281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1D22F88D-6907-48AF-B024-346E855E0D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C8EF2D4C-CCCD-8748-CCC2-D048459FDE2E}"/>
              </a:ext>
            </a:extLst>
          </p:cNvPr>
          <p:cNvSpPr>
            <a:spLocks noGrp="1"/>
          </p:cNvSpPr>
          <p:nvPr>
            <p:ph type="title"/>
          </p:nvPr>
        </p:nvSpPr>
        <p:spPr>
          <a:xfrm>
            <a:off x="496112" y="685801"/>
            <a:ext cx="2743200" cy="5105400"/>
          </a:xfrm>
        </p:spPr>
        <p:txBody>
          <a:bodyPr>
            <a:normAutofit/>
          </a:bodyPr>
          <a:lstStyle/>
          <a:p>
            <a:pPr algn="l"/>
            <a:r>
              <a:rPr lang="en-US" sz="3200">
                <a:solidFill>
                  <a:srgbClr val="FFFFFF"/>
                </a:solidFill>
              </a:rPr>
              <a:t>Business Problem</a:t>
            </a:r>
          </a:p>
        </p:txBody>
      </p:sp>
      <p:grpSp>
        <p:nvGrpSpPr>
          <p:cNvPr id="15" name="Group 14">
            <a:extLst>
              <a:ext uri="{FF2B5EF4-FFF2-40B4-BE49-F238E27FC236}">
                <a16:creationId xmlns:a16="http://schemas.microsoft.com/office/drawing/2014/main" id="{F3842748-48B5-4DD0-A06A-A31C74024A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6" name="Freeform 6">
              <a:extLst>
                <a:ext uri="{FF2B5EF4-FFF2-40B4-BE49-F238E27FC236}">
                  <a16:creationId xmlns:a16="http://schemas.microsoft.com/office/drawing/2014/main" id="{548E99BE-1071-4690-9B9C-07926CEE5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7" name="Freeform 7">
              <a:extLst>
                <a:ext uri="{FF2B5EF4-FFF2-40B4-BE49-F238E27FC236}">
                  <a16:creationId xmlns:a16="http://schemas.microsoft.com/office/drawing/2014/main" id="{9301F039-B467-413A-B25C-770E51069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8" name="Freeform 8">
              <a:extLst>
                <a:ext uri="{FF2B5EF4-FFF2-40B4-BE49-F238E27FC236}">
                  <a16:creationId xmlns:a16="http://schemas.microsoft.com/office/drawing/2014/main" id="{9F06AEC1-5558-49E8-8CAC-FEBD00DF0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9" name="Freeform 9">
              <a:extLst>
                <a:ext uri="{FF2B5EF4-FFF2-40B4-BE49-F238E27FC236}">
                  <a16:creationId xmlns:a16="http://schemas.microsoft.com/office/drawing/2014/main" id="{D10B76B9-BA68-471E-B58C-ED91198A9F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0" name="Freeform 10">
              <a:extLst>
                <a:ext uri="{FF2B5EF4-FFF2-40B4-BE49-F238E27FC236}">
                  <a16:creationId xmlns:a16="http://schemas.microsoft.com/office/drawing/2014/main" id="{FEB3913B-54A3-490E-BA4B-5D0330990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1" name="Freeform 11">
              <a:extLst>
                <a:ext uri="{FF2B5EF4-FFF2-40B4-BE49-F238E27FC236}">
                  <a16:creationId xmlns:a16="http://schemas.microsoft.com/office/drawing/2014/main" id="{F75DC961-08A4-46F8-8A80-2E1FB977E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6" name="Rectangle 1">
            <a:extLst>
              <a:ext uri="{FF2B5EF4-FFF2-40B4-BE49-F238E27FC236}">
                <a16:creationId xmlns:a16="http://schemas.microsoft.com/office/drawing/2014/main" id="{6C275A24-16A7-69A1-0264-657598785A37}"/>
              </a:ext>
            </a:extLst>
          </p:cNvPr>
          <p:cNvSpPr>
            <a:spLocks noGrp="1" noChangeArrowheads="1"/>
          </p:cNvSpPr>
          <p:nvPr>
            <p:ph idx="1"/>
          </p:nvPr>
        </p:nvSpPr>
        <p:spPr bwMode="auto">
          <a:xfrm>
            <a:off x="5117106" y="685801"/>
            <a:ext cx="6385918" cy="5105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buClrTx/>
              <a:buSzTx/>
              <a:buFontTx/>
              <a:buChar char="•"/>
              <a:tabLst/>
            </a:pPr>
            <a:r>
              <a:rPr kumimoji="0" lang="en-US" altLang="en-US" sz="2000" b="0" i="0" u="none" strike="noStrike" cap="none" normalizeH="0" baseline="0">
                <a:ln>
                  <a:noFill/>
                </a:ln>
                <a:effectLst/>
                <a:latin typeface="Arial" panose="020B0604020202020204" pitchFamily="34" charset="0"/>
              </a:rPr>
              <a:t>Fit.ly is losing customers at a rate that impacts revenue and long-term growth.</a:t>
            </a:r>
          </a:p>
          <a:p>
            <a:pPr marL="0" marR="0" lvl="0" indent="0" defTabSz="914400" rtl="0" eaLnBrk="0" fontAlgn="base" latinLnBrk="0" hangingPunct="0">
              <a:spcBef>
                <a:spcPct val="0"/>
              </a:spcBef>
              <a:buClrTx/>
              <a:buSzTx/>
              <a:buFontTx/>
              <a:buChar char="•"/>
              <a:tabLst/>
            </a:pPr>
            <a:r>
              <a:rPr kumimoji="0" lang="en-US" altLang="en-US" sz="2000" b="0" i="0" u="none" strike="noStrike" cap="none" normalizeH="0" baseline="0">
                <a:ln>
                  <a:noFill/>
                </a:ln>
                <a:effectLst/>
                <a:latin typeface="Arial" panose="020B0604020202020204" pitchFamily="34" charset="0"/>
              </a:rPr>
              <a:t>Leadership needs to understand:</a:t>
            </a:r>
          </a:p>
          <a:p>
            <a:pPr marL="400050" marR="0" lvl="0" indent="-400050" defTabSz="914400" rtl="0" eaLnBrk="0" fontAlgn="base" latinLnBrk="0" hangingPunct="0">
              <a:spcBef>
                <a:spcPct val="0"/>
              </a:spcBef>
              <a:buClrTx/>
              <a:buSzTx/>
              <a:buFont typeface="+mj-lt"/>
              <a:buAutoNum type="romanLcPeriod"/>
              <a:tabLst/>
            </a:pPr>
            <a:r>
              <a:rPr kumimoji="0" lang="en-US" altLang="en-US" sz="2000" b="0" i="1" u="none" strike="noStrike" cap="none" normalizeH="0" baseline="0">
                <a:ln>
                  <a:noFill/>
                </a:ln>
                <a:effectLst/>
                <a:latin typeface="Arial" panose="020B0604020202020204" pitchFamily="34" charset="0"/>
              </a:rPr>
              <a:t>Who</a:t>
            </a:r>
            <a:r>
              <a:rPr kumimoji="0" lang="en-US" altLang="en-US" sz="2000" b="0" i="0" u="none" strike="noStrike" cap="none" normalizeH="0" baseline="0">
                <a:ln>
                  <a:noFill/>
                </a:ln>
                <a:effectLst/>
                <a:latin typeface="Arial" panose="020B0604020202020204" pitchFamily="34" charset="0"/>
              </a:rPr>
              <a:t> is churning</a:t>
            </a:r>
          </a:p>
          <a:p>
            <a:pPr marL="400050" marR="0" lvl="0" indent="-400050" defTabSz="914400" rtl="0" eaLnBrk="0" fontAlgn="base" latinLnBrk="0" hangingPunct="0">
              <a:spcBef>
                <a:spcPct val="0"/>
              </a:spcBef>
              <a:buClrTx/>
              <a:buSzTx/>
              <a:buFont typeface="+mj-lt"/>
              <a:buAutoNum type="romanLcPeriod"/>
              <a:tabLst/>
            </a:pPr>
            <a:r>
              <a:rPr kumimoji="0" lang="en-US" altLang="en-US" sz="2000" b="0" i="1" u="none" strike="noStrike" cap="none" normalizeH="0" baseline="0">
                <a:ln>
                  <a:noFill/>
                </a:ln>
                <a:effectLst/>
                <a:latin typeface="Arial" panose="020B0604020202020204" pitchFamily="34" charset="0"/>
              </a:rPr>
              <a:t>Why</a:t>
            </a:r>
            <a:r>
              <a:rPr kumimoji="0" lang="en-US" altLang="en-US" sz="2000" b="0" i="0" u="none" strike="noStrike" cap="none" normalizeH="0" baseline="0">
                <a:ln>
                  <a:noFill/>
                </a:ln>
                <a:effectLst/>
                <a:latin typeface="Arial" panose="020B0604020202020204" pitchFamily="34" charset="0"/>
              </a:rPr>
              <a:t> they are churning</a:t>
            </a:r>
          </a:p>
          <a:p>
            <a:pPr marL="400050" marR="0" lvl="0" indent="-400050" defTabSz="914400" rtl="0" eaLnBrk="0" fontAlgn="base" latinLnBrk="0" hangingPunct="0">
              <a:spcBef>
                <a:spcPct val="0"/>
              </a:spcBef>
              <a:buClrTx/>
              <a:buSzTx/>
              <a:buFont typeface="+mj-lt"/>
              <a:buAutoNum type="romanLcPeriod"/>
              <a:tabLst/>
            </a:pPr>
            <a:r>
              <a:rPr kumimoji="0" lang="en-US" altLang="en-US" sz="2000" b="0" i="1" u="none" strike="noStrike" cap="none" normalizeH="0" baseline="0">
                <a:ln>
                  <a:noFill/>
                </a:ln>
                <a:effectLst/>
                <a:latin typeface="Arial" panose="020B0604020202020204" pitchFamily="34" charset="0"/>
              </a:rPr>
              <a:t>What</a:t>
            </a:r>
            <a:r>
              <a:rPr kumimoji="0" lang="en-US" altLang="en-US" sz="2000" b="0" i="0" u="none" strike="noStrike" cap="none" normalizeH="0" baseline="0">
                <a:ln>
                  <a:noFill/>
                </a:ln>
                <a:effectLst/>
                <a:latin typeface="Arial" panose="020B0604020202020204" pitchFamily="34" charset="0"/>
              </a:rPr>
              <a:t> actions can reduce churn</a:t>
            </a:r>
          </a:p>
          <a:p>
            <a:pPr marL="0" marR="0" lvl="0" indent="0" defTabSz="914400" rtl="0" eaLnBrk="0" fontAlgn="base" latinLnBrk="0" hangingPunct="0">
              <a:spcBef>
                <a:spcPct val="0"/>
              </a:spcBef>
              <a:buClrTx/>
              <a:buSzTx/>
              <a:buFontTx/>
              <a:buChar char="•"/>
              <a:tabLst/>
            </a:pPr>
            <a:r>
              <a:rPr kumimoji="0" lang="en-US" altLang="en-US" sz="2000" b="0" i="0" u="none" strike="noStrike" cap="none" normalizeH="0" baseline="0">
                <a:ln>
                  <a:noFill/>
                </a:ln>
                <a:effectLst/>
                <a:latin typeface="Arial" panose="020B0604020202020204" pitchFamily="34" charset="0"/>
              </a:rPr>
              <a:t>Goal: Provide data-driven insights and actionable recommendations.</a:t>
            </a:r>
          </a:p>
        </p:txBody>
      </p:sp>
    </p:spTree>
    <p:extLst>
      <p:ext uri="{BB962C8B-B14F-4D97-AF65-F5344CB8AC3E}">
        <p14:creationId xmlns:p14="http://schemas.microsoft.com/office/powerpoint/2010/main" val="3980338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13"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3">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3">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17"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8"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9"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0"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1"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2"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D41B30A4-67B5-068C-5901-617D8D22C970}"/>
              </a:ext>
            </a:extLst>
          </p:cNvPr>
          <p:cNvSpPr>
            <a:spLocks noGrp="1"/>
          </p:cNvSpPr>
          <p:nvPr>
            <p:ph type="title"/>
          </p:nvPr>
        </p:nvSpPr>
        <p:spPr>
          <a:xfrm>
            <a:off x="3962399" y="685800"/>
            <a:ext cx="7345891" cy="1413933"/>
          </a:xfrm>
        </p:spPr>
        <p:txBody>
          <a:bodyPr>
            <a:normAutofit/>
          </a:bodyPr>
          <a:lstStyle/>
          <a:p>
            <a:r>
              <a:rPr lang="en-US" dirty="0"/>
              <a:t>Data Validation</a:t>
            </a:r>
          </a:p>
        </p:txBody>
      </p:sp>
      <p:pic>
        <p:nvPicPr>
          <p:cNvPr id="6" name="Picture 5" descr="Sticky notes on a wall">
            <a:extLst>
              <a:ext uri="{FF2B5EF4-FFF2-40B4-BE49-F238E27FC236}">
                <a16:creationId xmlns:a16="http://schemas.microsoft.com/office/drawing/2014/main" id="{A6C2BB2C-5F98-C42C-E729-B16283F38248}"/>
              </a:ext>
            </a:extLst>
          </p:cNvPr>
          <p:cNvPicPr>
            <a:picLocks noChangeAspect="1"/>
          </p:cNvPicPr>
          <p:nvPr/>
        </p:nvPicPr>
        <p:blipFill>
          <a:blip r:embed="rId4"/>
          <a:srcRect l="32278" r="32541" b="2"/>
          <a:stretch>
            <a:fillRect/>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4" name="Rectangle 1">
            <a:extLst>
              <a:ext uri="{FF2B5EF4-FFF2-40B4-BE49-F238E27FC236}">
                <a16:creationId xmlns:a16="http://schemas.microsoft.com/office/drawing/2014/main" id="{C921466B-1183-63BE-8224-DCFBCE53C06C}"/>
              </a:ext>
            </a:extLst>
          </p:cNvPr>
          <p:cNvSpPr>
            <a:spLocks noGrp="1" noChangeArrowheads="1"/>
          </p:cNvSpPr>
          <p:nvPr>
            <p:ph idx="1"/>
          </p:nvPr>
        </p:nvSpPr>
        <p:spPr bwMode="auto">
          <a:xfrm>
            <a:off x="3843867" y="2048933"/>
            <a:ext cx="7659156" cy="37422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90000"/>
              </a:lnSpc>
              <a:spcBef>
                <a:spcPct val="0"/>
              </a:spcBef>
              <a:buClrTx/>
              <a:buSzTx/>
              <a:buFontTx/>
              <a:buChar char="•"/>
              <a:tabLst/>
            </a:pPr>
            <a:r>
              <a:rPr kumimoji="0" lang="en-US" altLang="en-US" b="0" i="0" u="none" strike="noStrike" cap="none" normalizeH="0" baseline="0">
                <a:ln>
                  <a:noFill/>
                </a:ln>
                <a:effectLst/>
                <a:latin typeface="Arial" panose="020B0604020202020204" pitchFamily="34" charset="0"/>
              </a:rPr>
              <a:t>Validated 3 datasets: account information, customer support, and user activity</a:t>
            </a:r>
          </a:p>
          <a:p>
            <a:pPr marL="0" marR="0" lvl="0" indent="0" defTabSz="914400" rtl="0" eaLnBrk="0" fontAlgn="base" latinLnBrk="0" hangingPunct="0">
              <a:lnSpc>
                <a:spcPct val="90000"/>
              </a:lnSpc>
              <a:spcBef>
                <a:spcPct val="0"/>
              </a:spcBef>
              <a:buClrTx/>
              <a:buSzTx/>
              <a:buFontTx/>
              <a:buChar char="•"/>
              <a:tabLst/>
            </a:pPr>
            <a:r>
              <a:rPr kumimoji="0" lang="en-US" altLang="en-US" b="0" i="0" u="none" strike="noStrike" cap="none" normalizeH="0" baseline="0">
                <a:ln>
                  <a:noFill/>
                </a:ln>
                <a:effectLst/>
                <a:latin typeface="Arial" panose="020B0604020202020204" pitchFamily="34" charset="0"/>
              </a:rPr>
              <a:t>Cleaned churn labels, removed whitespace, created </a:t>
            </a:r>
            <a:r>
              <a:rPr kumimoji="0" lang="en-US" altLang="en-US" b="0" i="0" u="none" strike="noStrike" cap="none" normalizeH="0" baseline="0" err="1">
                <a:ln>
                  <a:noFill/>
                </a:ln>
                <a:effectLst/>
                <a:latin typeface="Arial Unicode MS"/>
              </a:rPr>
              <a:t>is_churn</a:t>
            </a:r>
            <a:r>
              <a:rPr kumimoji="0" lang="en-US" altLang="en-US" b="0" i="0" u="none" strike="noStrike" cap="none" normalizeH="0" baseline="0">
                <a:ln>
                  <a:noFill/>
                </a:ln>
                <a:effectLst/>
              </a:rPr>
              <a:t> flag</a:t>
            </a:r>
            <a:endParaRPr kumimoji="0" lang="en-US" altLang="en-US" b="0" i="0" u="none" strike="noStrike" cap="none" normalizeH="0" baseline="0">
              <a:ln>
                <a:noFill/>
              </a:ln>
              <a:effectLst/>
              <a:latin typeface="Arial" panose="020B0604020202020204" pitchFamily="34" charset="0"/>
            </a:endParaRPr>
          </a:p>
          <a:p>
            <a:pPr marL="0" marR="0" lvl="0" indent="0" defTabSz="914400" rtl="0" eaLnBrk="0" fontAlgn="base" latinLnBrk="0" hangingPunct="0">
              <a:lnSpc>
                <a:spcPct val="90000"/>
              </a:lnSpc>
              <a:spcBef>
                <a:spcPct val="0"/>
              </a:spcBef>
              <a:buClrTx/>
              <a:buSzTx/>
              <a:buFontTx/>
              <a:buChar char="•"/>
              <a:tabLst/>
            </a:pPr>
            <a:r>
              <a:rPr kumimoji="0" lang="en-US" altLang="en-US" b="0" i="0" u="none" strike="noStrike" cap="none" normalizeH="0" baseline="0">
                <a:ln>
                  <a:noFill/>
                </a:ln>
                <a:effectLst/>
                <a:latin typeface="Arial" panose="020B0604020202020204" pitchFamily="34" charset="0"/>
              </a:rPr>
              <a:t>Constructed key features:</a:t>
            </a:r>
          </a:p>
          <a:p>
            <a:pPr marL="400050" marR="0" lvl="0" indent="-400050" defTabSz="914400" rtl="0" eaLnBrk="0" fontAlgn="base" latinLnBrk="0" hangingPunct="0">
              <a:lnSpc>
                <a:spcPct val="90000"/>
              </a:lnSpc>
              <a:spcBef>
                <a:spcPct val="0"/>
              </a:spcBef>
              <a:buClrTx/>
              <a:buSzTx/>
              <a:buFont typeface="+mj-lt"/>
              <a:buAutoNum type="romanLcPeriod"/>
              <a:tabLst/>
            </a:pPr>
            <a:r>
              <a:rPr kumimoji="0" lang="en-US" altLang="en-US" b="1" i="0" u="none" strike="noStrike" cap="none" normalizeH="0" baseline="0">
                <a:ln>
                  <a:noFill/>
                </a:ln>
                <a:effectLst/>
                <a:latin typeface="Arial" panose="020B0604020202020204" pitchFamily="34" charset="0"/>
              </a:rPr>
              <a:t>Event count</a:t>
            </a:r>
            <a:r>
              <a:rPr kumimoji="0" lang="en-US" altLang="en-US" b="0" i="0" u="none" strike="noStrike" cap="none" normalizeH="0" baseline="0">
                <a:ln>
                  <a:noFill/>
                </a:ln>
                <a:effectLst/>
                <a:latin typeface="Arial" panose="020B0604020202020204" pitchFamily="34" charset="0"/>
              </a:rPr>
              <a:t> and </a:t>
            </a:r>
            <a:r>
              <a:rPr kumimoji="0" lang="en-US" altLang="en-US" b="1" i="0" u="none" strike="noStrike" cap="none" normalizeH="0" baseline="0">
                <a:ln>
                  <a:noFill/>
                </a:ln>
                <a:effectLst/>
                <a:latin typeface="Arial" panose="020B0604020202020204" pitchFamily="34" charset="0"/>
              </a:rPr>
              <a:t>engagement buckets</a:t>
            </a:r>
            <a:endParaRPr kumimoji="0" lang="en-US" altLang="en-US" b="0" i="0" u="none" strike="noStrike" cap="none" normalizeH="0" baseline="0">
              <a:ln>
                <a:noFill/>
              </a:ln>
              <a:effectLst/>
              <a:latin typeface="Arial" panose="020B0604020202020204" pitchFamily="34" charset="0"/>
            </a:endParaRPr>
          </a:p>
          <a:p>
            <a:pPr marL="400050" marR="0" lvl="0" indent="-400050" defTabSz="914400" rtl="0" eaLnBrk="0" fontAlgn="base" latinLnBrk="0" hangingPunct="0">
              <a:lnSpc>
                <a:spcPct val="90000"/>
              </a:lnSpc>
              <a:spcBef>
                <a:spcPct val="0"/>
              </a:spcBef>
              <a:buClrTx/>
              <a:buSzTx/>
              <a:buFont typeface="+mj-lt"/>
              <a:buAutoNum type="romanLcPeriod"/>
              <a:tabLst/>
            </a:pPr>
            <a:r>
              <a:rPr kumimoji="0" lang="en-US" altLang="en-US" b="1" i="0" u="none" strike="noStrike" cap="none" normalizeH="0" baseline="0">
                <a:ln>
                  <a:noFill/>
                </a:ln>
                <a:effectLst/>
                <a:latin typeface="Arial" panose="020B0604020202020204" pitchFamily="34" charset="0"/>
              </a:rPr>
              <a:t>Ticket count</a:t>
            </a:r>
            <a:r>
              <a:rPr kumimoji="0" lang="en-US" altLang="en-US" b="0" i="0" u="none" strike="noStrike" cap="none" normalizeH="0" baseline="0">
                <a:ln>
                  <a:noFill/>
                </a:ln>
                <a:effectLst/>
                <a:latin typeface="Arial" panose="020B0604020202020204" pitchFamily="34" charset="0"/>
              </a:rPr>
              <a:t> and </a:t>
            </a:r>
            <a:r>
              <a:rPr kumimoji="0" lang="en-US" altLang="en-US" b="1" i="0" u="none" strike="noStrike" cap="none" normalizeH="0" baseline="0">
                <a:ln>
                  <a:noFill/>
                </a:ln>
                <a:effectLst/>
                <a:latin typeface="Arial" panose="020B0604020202020204" pitchFamily="34" charset="0"/>
              </a:rPr>
              <a:t>ticket group buckets</a:t>
            </a:r>
            <a:endParaRPr kumimoji="0" lang="en-US" altLang="en-US" b="0" i="0" u="none" strike="noStrike" cap="none" normalizeH="0" baseline="0">
              <a:ln>
                <a:noFill/>
              </a:ln>
              <a:effectLst/>
              <a:latin typeface="Arial" panose="020B0604020202020204" pitchFamily="34" charset="0"/>
            </a:endParaRPr>
          </a:p>
          <a:p>
            <a:pPr marL="0" marR="0" lvl="0" indent="0" defTabSz="914400" rtl="0" eaLnBrk="0" fontAlgn="base" latinLnBrk="0" hangingPunct="0">
              <a:lnSpc>
                <a:spcPct val="90000"/>
              </a:lnSpc>
              <a:spcBef>
                <a:spcPct val="0"/>
              </a:spcBef>
              <a:buClrTx/>
              <a:buSzTx/>
              <a:buFontTx/>
              <a:buChar char="•"/>
              <a:tabLst/>
            </a:pPr>
            <a:r>
              <a:rPr kumimoji="0" lang="en-US" altLang="en-US" b="0" i="0" u="none" strike="noStrike" cap="none" normalizeH="0" baseline="0">
                <a:ln>
                  <a:noFill/>
                </a:ln>
                <a:effectLst/>
                <a:latin typeface="Arial" panose="020B0604020202020204" pitchFamily="34" charset="0"/>
              </a:rPr>
              <a:t>Ensured all user IDs matched; retained 0-activity and 0-ticket users.</a:t>
            </a:r>
          </a:p>
        </p:txBody>
      </p:sp>
    </p:spTree>
    <p:extLst>
      <p:ext uri="{BB962C8B-B14F-4D97-AF65-F5344CB8AC3E}">
        <p14:creationId xmlns:p14="http://schemas.microsoft.com/office/powerpoint/2010/main" val="2139029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8A4A409-9242-444A-AC1F-809866828B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11" name="Freeform 6">
              <a:extLst>
                <a:ext uri="{FF2B5EF4-FFF2-40B4-BE49-F238E27FC236}">
                  <a16:creationId xmlns:a16="http://schemas.microsoft.com/office/drawing/2014/main" id="{ABF65108-5AB6-40BD-BCAF-526D8E3091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2" name="Freeform 7">
              <a:extLst>
                <a:ext uri="{FF2B5EF4-FFF2-40B4-BE49-F238E27FC236}">
                  <a16:creationId xmlns:a16="http://schemas.microsoft.com/office/drawing/2014/main" id="{C77C904B-BC3A-472F-BB70-8750D41E4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3" name="Freeform 8">
              <a:extLst>
                <a:ext uri="{FF2B5EF4-FFF2-40B4-BE49-F238E27FC236}">
                  <a16:creationId xmlns:a16="http://schemas.microsoft.com/office/drawing/2014/main" id="{E910D569-2CFD-4010-B886-2F31BB8EC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4" name="Freeform 9">
              <a:extLst>
                <a:ext uri="{FF2B5EF4-FFF2-40B4-BE49-F238E27FC236}">
                  <a16:creationId xmlns:a16="http://schemas.microsoft.com/office/drawing/2014/main" id="{5A816932-FBAD-46C0-AA92-336589A5A9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5" name="Freeform 10">
              <a:extLst>
                <a:ext uri="{FF2B5EF4-FFF2-40B4-BE49-F238E27FC236}">
                  <a16:creationId xmlns:a16="http://schemas.microsoft.com/office/drawing/2014/main" id="{3D914BDD-E5E0-4DFB-8072-5B498F94A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6" name="Freeform 11">
              <a:extLst>
                <a:ext uri="{FF2B5EF4-FFF2-40B4-BE49-F238E27FC236}">
                  <a16:creationId xmlns:a16="http://schemas.microsoft.com/office/drawing/2014/main" id="{ED9E392E-46C2-4B84-A121-9B2BC452F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1AB3C31A-5A2F-D9F7-F128-0341B366CA51}"/>
              </a:ext>
            </a:extLst>
          </p:cNvPr>
          <p:cNvSpPr>
            <a:spLocks noGrp="1"/>
          </p:cNvSpPr>
          <p:nvPr>
            <p:ph type="title"/>
          </p:nvPr>
        </p:nvSpPr>
        <p:spPr>
          <a:xfrm>
            <a:off x="1484312" y="685800"/>
            <a:ext cx="2812385" cy="1752599"/>
          </a:xfrm>
        </p:spPr>
        <p:txBody>
          <a:bodyPr>
            <a:normAutofit/>
          </a:bodyPr>
          <a:lstStyle/>
          <a:p>
            <a:r>
              <a:rPr lang="en-US" sz="3200"/>
              <a:t>Customer Distribution by Plan</a:t>
            </a:r>
          </a:p>
        </p:txBody>
      </p:sp>
      <p:sp>
        <p:nvSpPr>
          <p:cNvPr id="3" name="Content Placeholder 2">
            <a:extLst>
              <a:ext uri="{FF2B5EF4-FFF2-40B4-BE49-F238E27FC236}">
                <a16:creationId xmlns:a16="http://schemas.microsoft.com/office/drawing/2014/main" id="{53203B0C-71FB-AD66-9276-403E4B929DB0}"/>
              </a:ext>
            </a:extLst>
          </p:cNvPr>
          <p:cNvSpPr>
            <a:spLocks noGrp="1"/>
          </p:cNvSpPr>
          <p:nvPr>
            <p:ph idx="1"/>
          </p:nvPr>
        </p:nvSpPr>
        <p:spPr>
          <a:xfrm>
            <a:off x="1484310" y="2666999"/>
            <a:ext cx="2812387" cy="3124201"/>
          </a:xfrm>
        </p:spPr>
        <p:txBody>
          <a:bodyPr>
            <a:normAutofit/>
          </a:bodyPr>
          <a:lstStyle/>
          <a:p>
            <a:pPr>
              <a:lnSpc>
                <a:spcPct val="90000"/>
              </a:lnSpc>
            </a:pPr>
            <a:r>
              <a:rPr lang="en-US" sz="1800" dirty="0"/>
              <a:t>Key insights:</a:t>
            </a:r>
          </a:p>
          <a:p>
            <a:pPr>
              <a:lnSpc>
                <a:spcPct val="90000"/>
              </a:lnSpc>
            </a:pPr>
            <a:r>
              <a:rPr lang="en-US" sz="1800" dirty="0"/>
              <a:t>Free and Basic tiers dominate the customer base.</a:t>
            </a:r>
          </a:p>
          <a:p>
            <a:pPr>
              <a:lnSpc>
                <a:spcPct val="90000"/>
              </a:lnSpc>
            </a:pPr>
            <a:r>
              <a:rPr lang="en-US" sz="1800" dirty="0"/>
              <a:t>All paid plans have meaningful churn, not isolated to one tier.</a:t>
            </a:r>
          </a:p>
          <a:p>
            <a:pPr>
              <a:lnSpc>
                <a:spcPct val="90000"/>
              </a:lnSpc>
            </a:pPr>
            <a:r>
              <a:rPr lang="en-US" sz="1800" dirty="0"/>
              <a:t>Free users represent a major opportunity for improved activation.</a:t>
            </a:r>
          </a:p>
          <a:p>
            <a:pPr>
              <a:lnSpc>
                <a:spcPct val="90000"/>
              </a:lnSpc>
            </a:pPr>
            <a:endParaRPr lang="en-US" sz="1800" dirty="0"/>
          </a:p>
        </p:txBody>
      </p:sp>
      <p:sp>
        <p:nvSpPr>
          <p:cNvPr id="18" name="Rounded Rectangle 16">
            <a:extLst>
              <a:ext uri="{FF2B5EF4-FFF2-40B4-BE49-F238E27FC236}">
                <a16:creationId xmlns:a16="http://schemas.microsoft.com/office/drawing/2014/main" id="{21ECAAB0-702B-4C08-B30F-0AFAC3479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218BDCC-4E5F-19D8-F660-D6869AFA2D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6527" y="1011765"/>
            <a:ext cx="4546708" cy="4546708"/>
          </a:xfrm>
          <a:prstGeom prst="rect">
            <a:avLst/>
          </a:prstGeom>
        </p:spPr>
      </p:pic>
    </p:spTree>
    <p:extLst>
      <p:ext uri="{BB962C8B-B14F-4D97-AF65-F5344CB8AC3E}">
        <p14:creationId xmlns:p14="http://schemas.microsoft.com/office/powerpoint/2010/main" val="2374835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8A4A409-9242-444A-AC1F-809866828B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11" name="Freeform 6">
              <a:extLst>
                <a:ext uri="{FF2B5EF4-FFF2-40B4-BE49-F238E27FC236}">
                  <a16:creationId xmlns:a16="http://schemas.microsoft.com/office/drawing/2014/main" id="{ABF65108-5AB6-40BD-BCAF-526D8E3091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2" name="Freeform 7">
              <a:extLst>
                <a:ext uri="{FF2B5EF4-FFF2-40B4-BE49-F238E27FC236}">
                  <a16:creationId xmlns:a16="http://schemas.microsoft.com/office/drawing/2014/main" id="{C77C904B-BC3A-472F-BB70-8750D41E4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3" name="Freeform 8">
              <a:extLst>
                <a:ext uri="{FF2B5EF4-FFF2-40B4-BE49-F238E27FC236}">
                  <a16:creationId xmlns:a16="http://schemas.microsoft.com/office/drawing/2014/main" id="{E910D569-2CFD-4010-B886-2F31BB8EC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4" name="Freeform 9">
              <a:extLst>
                <a:ext uri="{FF2B5EF4-FFF2-40B4-BE49-F238E27FC236}">
                  <a16:creationId xmlns:a16="http://schemas.microsoft.com/office/drawing/2014/main" id="{5A816932-FBAD-46C0-AA92-336589A5A9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5" name="Freeform 10">
              <a:extLst>
                <a:ext uri="{FF2B5EF4-FFF2-40B4-BE49-F238E27FC236}">
                  <a16:creationId xmlns:a16="http://schemas.microsoft.com/office/drawing/2014/main" id="{3D914BDD-E5E0-4DFB-8072-5B498F94A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6" name="Freeform 11">
              <a:extLst>
                <a:ext uri="{FF2B5EF4-FFF2-40B4-BE49-F238E27FC236}">
                  <a16:creationId xmlns:a16="http://schemas.microsoft.com/office/drawing/2014/main" id="{ED9E392E-46C2-4B84-A121-9B2BC452F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3067D509-46BB-BB67-8D86-111653EA2CBF}"/>
              </a:ext>
            </a:extLst>
          </p:cNvPr>
          <p:cNvSpPr>
            <a:spLocks noGrp="1"/>
          </p:cNvSpPr>
          <p:nvPr>
            <p:ph type="title"/>
          </p:nvPr>
        </p:nvSpPr>
        <p:spPr>
          <a:xfrm>
            <a:off x="1484312" y="685800"/>
            <a:ext cx="2812385" cy="1752599"/>
          </a:xfrm>
        </p:spPr>
        <p:txBody>
          <a:bodyPr>
            <a:normAutofit/>
          </a:bodyPr>
          <a:lstStyle/>
          <a:p>
            <a:r>
              <a:rPr lang="en-US" sz="3000"/>
              <a:t>Support Resolution Time Distribution</a:t>
            </a:r>
          </a:p>
        </p:txBody>
      </p:sp>
      <p:sp>
        <p:nvSpPr>
          <p:cNvPr id="3" name="Content Placeholder 2">
            <a:extLst>
              <a:ext uri="{FF2B5EF4-FFF2-40B4-BE49-F238E27FC236}">
                <a16:creationId xmlns:a16="http://schemas.microsoft.com/office/drawing/2014/main" id="{AB848E2A-4DF5-82CC-1D7C-0FF609ED7A05}"/>
              </a:ext>
            </a:extLst>
          </p:cNvPr>
          <p:cNvSpPr>
            <a:spLocks noGrp="1"/>
          </p:cNvSpPr>
          <p:nvPr>
            <p:ph idx="1"/>
          </p:nvPr>
        </p:nvSpPr>
        <p:spPr>
          <a:xfrm>
            <a:off x="1484310" y="2666999"/>
            <a:ext cx="2812387" cy="3124201"/>
          </a:xfrm>
        </p:spPr>
        <p:txBody>
          <a:bodyPr>
            <a:normAutofit/>
          </a:bodyPr>
          <a:lstStyle/>
          <a:p>
            <a:pPr>
              <a:lnSpc>
                <a:spcPct val="90000"/>
              </a:lnSpc>
            </a:pPr>
            <a:r>
              <a:rPr lang="en-US" sz="1800"/>
              <a:t>Key insights:</a:t>
            </a:r>
          </a:p>
          <a:p>
            <a:pPr>
              <a:lnSpc>
                <a:spcPct val="90000"/>
              </a:lnSpc>
            </a:pPr>
            <a:r>
              <a:rPr lang="en-US" sz="1800"/>
              <a:t>Free and Basic tiers dominate the customer base.</a:t>
            </a:r>
          </a:p>
          <a:p>
            <a:pPr>
              <a:lnSpc>
                <a:spcPct val="90000"/>
              </a:lnSpc>
            </a:pPr>
            <a:r>
              <a:rPr lang="en-US" sz="1800"/>
              <a:t>All paid plans have meaningful churn, not isolated to one tier.</a:t>
            </a:r>
          </a:p>
          <a:p>
            <a:pPr>
              <a:lnSpc>
                <a:spcPct val="90000"/>
              </a:lnSpc>
            </a:pPr>
            <a:r>
              <a:rPr lang="en-US" sz="1800"/>
              <a:t>Free users represent a major opportunity for improved activation.</a:t>
            </a:r>
          </a:p>
          <a:p>
            <a:pPr>
              <a:lnSpc>
                <a:spcPct val="90000"/>
              </a:lnSpc>
            </a:pPr>
            <a:endParaRPr lang="en-US" sz="1800"/>
          </a:p>
        </p:txBody>
      </p:sp>
      <p:sp>
        <p:nvSpPr>
          <p:cNvPr id="18" name="Rounded Rectangle 16">
            <a:extLst>
              <a:ext uri="{FF2B5EF4-FFF2-40B4-BE49-F238E27FC236}">
                <a16:creationId xmlns:a16="http://schemas.microsoft.com/office/drawing/2014/main" id="{21ECAAB0-702B-4C08-B30F-0AFAC3479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DDADE9-6456-8E0B-B3BE-34221EB6EE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6527" y="1011765"/>
            <a:ext cx="4546708" cy="4546708"/>
          </a:xfrm>
          <a:prstGeom prst="rect">
            <a:avLst/>
          </a:prstGeom>
        </p:spPr>
      </p:pic>
    </p:spTree>
    <p:extLst>
      <p:ext uri="{BB962C8B-B14F-4D97-AF65-F5344CB8AC3E}">
        <p14:creationId xmlns:p14="http://schemas.microsoft.com/office/powerpoint/2010/main" val="2200263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B7723-1935-6F76-9244-1372E79856CF}"/>
              </a:ext>
            </a:extLst>
          </p:cNvPr>
          <p:cNvSpPr>
            <a:spLocks noGrp="1"/>
          </p:cNvSpPr>
          <p:nvPr>
            <p:ph type="title"/>
          </p:nvPr>
        </p:nvSpPr>
        <p:spPr>
          <a:xfrm>
            <a:off x="1484311" y="1081548"/>
            <a:ext cx="3333495" cy="1504335"/>
          </a:xfrm>
        </p:spPr>
        <p:txBody>
          <a:bodyPr>
            <a:normAutofit/>
          </a:bodyPr>
          <a:lstStyle/>
          <a:p>
            <a:r>
              <a:rPr lang="en-US" sz="2800" dirty="0"/>
              <a:t>Churn by Engagement Level</a:t>
            </a:r>
          </a:p>
        </p:txBody>
      </p:sp>
      <p:sp>
        <p:nvSpPr>
          <p:cNvPr id="3" name="Content Placeholder 2">
            <a:extLst>
              <a:ext uri="{FF2B5EF4-FFF2-40B4-BE49-F238E27FC236}">
                <a16:creationId xmlns:a16="http://schemas.microsoft.com/office/drawing/2014/main" id="{8E7DDF8F-9F5C-F706-0221-1E9A64BA05D6}"/>
              </a:ext>
            </a:extLst>
          </p:cNvPr>
          <p:cNvSpPr>
            <a:spLocks noGrp="1"/>
          </p:cNvSpPr>
          <p:nvPr>
            <p:ph idx="1"/>
          </p:nvPr>
        </p:nvSpPr>
        <p:spPr>
          <a:xfrm>
            <a:off x="1484311" y="2666999"/>
            <a:ext cx="3333496" cy="3124201"/>
          </a:xfrm>
        </p:spPr>
        <p:txBody>
          <a:bodyPr anchor="t">
            <a:normAutofit/>
          </a:bodyPr>
          <a:lstStyle/>
          <a:p>
            <a:r>
              <a:rPr lang="en-US" sz="1600"/>
              <a:t>Key insights:</a:t>
            </a:r>
          </a:p>
          <a:p>
            <a:r>
              <a:rPr lang="en-US" sz="1600"/>
              <a:t>0-event users churn at </a:t>
            </a:r>
            <a:r>
              <a:rPr lang="en-US" sz="1600" b="1"/>
              <a:t>53.9%</a:t>
            </a:r>
            <a:r>
              <a:rPr lang="en-US" sz="1600"/>
              <a:t>, highest of any group.</a:t>
            </a:r>
          </a:p>
          <a:p>
            <a:r>
              <a:rPr lang="en-US" sz="1600"/>
              <a:t>After just </a:t>
            </a:r>
            <a:r>
              <a:rPr lang="en-US" sz="1600" b="1"/>
              <a:t>2+ events</a:t>
            </a:r>
            <a:r>
              <a:rPr lang="en-US" sz="1600"/>
              <a:t>, churn drops to </a:t>
            </a:r>
            <a:r>
              <a:rPr lang="en-US" sz="1600" b="1"/>
              <a:t>5–6%</a:t>
            </a:r>
            <a:r>
              <a:rPr lang="en-US" sz="1600"/>
              <a:t>.</a:t>
            </a:r>
          </a:p>
          <a:p>
            <a:r>
              <a:rPr lang="en-US" sz="1600"/>
              <a:t>Engagement is the strongest predictor of retention.</a:t>
            </a:r>
          </a:p>
          <a:p>
            <a:endParaRPr lang="en-US" sz="1600"/>
          </a:p>
        </p:txBody>
      </p:sp>
      <p:pic>
        <p:nvPicPr>
          <p:cNvPr id="5" name="Picture 4">
            <a:extLst>
              <a:ext uri="{FF2B5EF4-FFF2-40B4-BE49-F238E27FC236}">
                <a16:creationId xmlns:a16="http://schemas.microsoft.com/office/drawing/2014/main" id="{FED6E773-101B-04EF-DCA9-349A581813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6003" y="685799"/>
            <a:ext cx="5053050" cy="5053050"/>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3948601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FC41-FEB5-2A0D-A52E-D5F66C980DFD}"/>
              </a:ext>
            </a:extLst>
          </p:cNvPr>
          <p:cNvSpPr>
            <a:spLocks noGrp="1"/>
          </p:cNvSpPr>
          <p:nvPr>
            <p:ph type="title"/>
          </p:nvPr>
        </p:nvSpPr>
        <p:spPr>
          <a:xfrm>
            <a:off x="1484311" y="1081548"/>
            <a:ext cx="3333495" cy="1504335"/>
          </a:xfrm>
        </p:spPr>
        <p:txBody>
          <a:bodyPr>
            <a:normAutofit/>
          </a:bodyPr>
          <a:lstStyle/>
          <a:p>
            <a:r>
              <a:rPr lang="en-US" sz="2400"/>
              <a:t>Churn by Support Interaction</a:t>
            </a:r>
          </a:p>
        </p:txBody>
      </p:sp>
      <p:sp>
        <p:nvSpPr>
          <p:cNvPr id="4" name="Rectangle 1">
            <a:extLst>
              <a:ext uri="{FF2B5EF4-FFF2-40B4-BE49-F238E27FC236}">
                <a16:creationId xmlns:a16="http://schemas.microsoft.com/office/drawing/2014/main" id="{2EA71F2A-7885-541B-2AAB-EAACAABA6875}"/>
              </a:ext>
            </a:extLst>
          </p:cNvPr>
          <p:cNvSpPr>
            <a:spLocks noGrp="1" noChangeArrowheads="1"/>
          </p:cNvSpPr>
          <p:nvPr>
            <p:ph idx="1"/>
          </p:nvPr>
        </p:nvSpPr>
        <p:spPr bwMode="auto">
          <a:xfrm>
            <a:off x="1484311" y="2666999"/>
            <a:ext cx="3333496" cy="312420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buClrTx/>
              <a:buSzTx/>
              <a:buFontTx/>
              <a:buChar char="•"/>
              <a:tabLst/>
            </a:pPr>
            <a:r>
              <a:rPr kumimoji="0" lang="en-US" altLang="en-US" sz="1600" b="0" i="0" u="none" strike="noStrike" cap="none" normalizeH="0" baseline="0">
                <a:ln>
                  <a:noFill/>
                </a:ln>
                <a:effectLst/>
                <a:latin typeface="Arial" panose="020B0604020202020204" pitchFamily="34" charset="0"/>
              </a:rPr>
              <a:t>0 tickets: </a:t>
            </a:r>
            <a:r>
              <a:rPr kumimoji="0" lang="en-US" altLang="en-US" sz="1600" b="1" i="0" u="none" strike="noStrike" cap="none" normalizeH="0" baseline="0">
                <a:ln>
                  <a:noFill/>
                </a:ln>
                <a:effectLst/>
                <a:latin typeface="Arial" panose="020B0604020202020204" pitchFamily="34" charset="0"/>
              </a:rPr>
              <a:t>15.2%</a:t>
            </a:r>
            <a:r>
              <a:rPr kumimoji="0" lang="en-US" altLang="en-US" sz="1600" b="0" i="0" u="none" strike="noStrike" cap="none" normalizeH="0" baseline="0">
                <a:ln>
                  <a:noFill/>
                </a:ln>
                <a:effectLst/>
                <a:latin typeface="Arial" panose="020B0604020202020204" pitchFamily="34" charset="0"/>
              </a:rPr>
              <a:t> churn</a:t>
            </a:r>
          </a:p>
          <a:p>
            <a:pPr marL="0" marR="0" lvl="0" indent="0" defTabSz="914400" rtl="0" eaLnBrk="0" fontAlgn="base" latinLnBrk="0" hangingPunct="0">
              <a:spcBef>
                <a:spcPct val="0"/>
              </a:spcBef>
              <a:buClrTx/>
              <a:buSzTx/>
              <a:buFontTx/>
              <a:buChar char="•"/>
              <a:tabLst/>
            </a:pPr>
            <a:r>
              <a:rPr kumimoji="0" lang="en-US" altLang="en-US" sz="1600" b="0" i="0" u="none" strike="noStrike" cap="none" normalizeH="0" baseline="0">
                <a:ln>
                  <a:noFill/>
                </a:ln>
                <a:effectLst/>
                <a:latin typeface="Arial" panose="020B0604020202020204" pitchFamily="34" charset="0"/>
              </a:rPr>
              <a:t>1 ticket: </a:t>
            </a:r>
            <a:r>
              <a:rPr kumimoji="0" lang="en-US" altLang="en-US" sz="1600" b="1" i="0" u="none" strike="noStrike" cap="none" normalizeH="0" baseline="0">
                <a:ln>
                  <a:noFill/>
                </a:ln>
                <a:effectLst/>
                <a:latin typeface="Arial" panose="020B0604020202020204" pitchFamily="34" charset="0"/>
              </a:rPr>
              <a:t>28.6%</a:t>
            </a:r>
            <a:endParaRPr kumimoji="0" lang="en-US" altLang="en-US" sz="16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buClrTx/>
              <a:buSzTx/>
              <a:buFontTx/>
              <a:buChar char="•"/>
              <a:tabLst/>
            </a:pPr>
            <a:r>
              <a:rPr kumimoji="0" lang="en-US" altLang="en-US" sz="1600" b="0" i="0" u="none" strike="noStrike" cap="none" normalizeH="0" baseline="0">
                <a:ln>
                  <a:noFill/>
                </a:ln>
                <a:effectLst/>
                <a:latin typeface="Arial" panose="020B0604020202020204" pitchFamily="34" charset="0"/>
              </a:rPr>
              <a:t>2–3 tickets: </a:t>
            </a:r>
            <a:r>
              <a:rPr kumimoji="0" lang="en-US" altLang="en-US" sz="1600" b="1" i="0" u="none" strike="noStrike" cap="none" normalizeH="0" baseline="0">
                <a:ln>
                  <a:noFill/>
                </a:ln>
                <a:effectLst/>
                <a:latin typeface="Arial" panose="020B0604020202020204" pitchFamily="34" charset="0"/>
              </a:rPr>
              <a:t>30.6%</a:t>
            </a:r>
            <a:endParaRPr kumimoji="0" lang="en-US" altLang="en-US" sz="16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buClrTx/>
              <a:buSzTx/>
              <a:buFontTx/>
              <a:buChar char="•"/>
              <a:tabLst/>
            </a:pPr>
            <a:r>
              <a:rPr kumimoji="0" lang="en-US" altLang="en-US" sz="1600" b="0" i="0" u="none" strike="noStrike" cap="none" normalizeH="0" baseline="0">
                <a:ln>
                  <a:noFill/>
                </a:ln>
                <a:effectLst/>
                <a:latin typeface="Arial" panose="020B0604020202020204" pitchFamily="34" charset="0"/>
              </a:rPr>
              <a:t>4+ tickets: </a:t>
            </a:r>
            <a:r>
              <a:rPr kumimoji="0" lang="en-US" altLang="en-US" sz="1600" b="1" i="0" u="none" strike="noStrike" cap="none" normalizeH="0" baseline="0">
                <a:ln>
                  <a:noFill/>
                </a:ln>
                <a:effectLst/>
                <a:latin typeface="Arial" panose="020B0604020202020204" pitchFamily="34" charset="0"/>
              </a:rPr>
              <a:t>28.9%</a:t>
            </a:r>
            <a:br>
              <a:rPr kumimoji="0" lang="en-US" altLang="en-US" sz="1600" b="0" i="0" u="none" strike="noStrike" cap="none" normalizeH="0" baseline="0">
                <a:ln>
                  <a:noFill/>
                </a:ln>
                <a:effectLst/>
                <a:latin typeface="Arial" panose="020B0604020202020204" pitchFamily="34" charset="0"/>
              </a:rPr>
            </a:br>
            <a:r>
              <a:rPr kumimoji="0" lang="en-US" altLang="en-US" sz="1600" b="1" i="0" u="none" strike="noStrike" cap="none" normalizeH="0" baseline="0">
                <a:ln>
                  <a:noFill/>
                </a:ln>
                <a:effectLst/>
                <a:latin typeface="Arial" panose="020B0604020202020204" pitchFamily="34" charset="0"/>
              </a:rPr>
              <a:t>Interpretation:</a:t>
            </a:r>
            <a:r>
              <a:rPr kumimoji="0" lang="en-US" altLang="en-US" sz="1600" b="0" i="0" u="none" strike="noStrike" cap="none" normalizeH="0" baseline="0">
                <a:ln>
                  <a:noFill/>
                </a:ln>
                <a:effectLst/>
                <a:latin typeface="Arial" panose="020B0604020202020204" pitchFamily="34" charset="0"/>
              </a:rPr>
              <a:t> Users contacting support are twice as likely to churn.</a:t>
            </a:r>
          </a:p>
        </p:txBody>
      </p:sp>
      <p:pic>
        <p:nvPicPr>
          <p:cNvPr id="8" name="Graphic 7" descr="Check List">
            <a:extLst>
              <a:ext uri="{FF2B5EF4-FFF2-40B4-BE49-F238E27FC236}">
                <a16:creationId xmlns:a16="http://schemas.microsoft.com/office/drawing/2014/main" id="{C900312B-A640-47C4-AF18-54AF9B90F8D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56003" y="685799"/>
            <a:ext cx="5053050" cy="5053050"/>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071718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Angled shot of pen on a graph">
            <a:extLst>
              <a:ext uri="{FF2B5EF4-FFF2-40B4-BE49-F238E27FC236}">
                <a16:creationId xmlns:a16="http://schemas.microsoft.com/office/drawing/2014/main" id="{A287C313-38A3-FCF7-E8F7-D2534304D2DF}"/>
              </a:ext>
            </a:extLst>
          </p:cNvPr>
          <p:cNvPicPr>
            <a:picLocks noChangeAspect="1"/>
          </p:cNvPicPr>
          <p:nvPr/>
        </p:nvPicPr>
        <p:blipFill>
          <a:blip r:embed="rId4"/>
          <a:srcRect l="5478" r="42944" b="-1"/>
          <a:stretch>
            <a:fillRect/>
          </a:stretch>
        </p:blipFill>
        <p:spPr>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25" name="Group 24">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26"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27"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4"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8"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9"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0"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10CF5C23-EB98-CBB4-7C2F-84290CB99C38}"/>
              </a:ext>
            </a:extLst>
          </p:cNvPr>
          <p:cNvSpPr>
            <a:spLocks noGrp="1"/>
          </p:cNvSpPr>
          <p:nvPr>
            <p:ph type="title"/>
          </p:nvPr>
        </p:nvSpPr>
        <p:spPr>
          <a:xfrm>
            <a:off x="972080" y="685800"/>
            <a:ext cx="5260680" cy="1752599"/>
          </a:xfrm>
        </p:spPr>
        <p:txBody>
          <a:bodyPr>
            <a:normAutofit/>
          </a:bodyPr>
          <a:lstStyle/>
          <a:p>
            <a:pPr algn="l"/>
            <a:r>
              <a:rPr lang="en-US" dirty="0"/>
              <a:t>Proposed Business Metric</a:t>
            </a:r>
            <a:endParaRPr lang="en-US"/>
          </a:p>
        </p:txBody>
      </p:sp>
      <p:sp>
        <p:nvSpPr>
          <p:cNvPr id="3" name="Content Placeholder 2">
            <a:extLst>
              <a:ext uri="{FF2B5EF4-FFF2-40B4-BE49-F238E27FC236}">
                <a16:creationId xmlns:a16="http://schemas.microsoft.com/office/drawing/2014/main" id="{80838842-5206-A9A2-B338-29B8438F1790}"/>
              </a:ext>
            </a:extLst>
          </p:cNvPr>
          <p:cNvSpPr>
            <a:spLocks noGrp="1"/>
          </p:cNvSpPr>
          <p:nvPr>
            <p:ph idx="1"/>
          </p:nvPr>
        </p:nvSpPr>
        <p:spPr>
          <a:xfrm>
            <a:off x="643468" y="2666999"/>
            <a:ext cx="5260680" cy="3124201"/>
          </a:xfrm>
        </p:spPr>
        <p:txBody>
          <a:bodyPr>
            <a:normAutofit/>
          </a:bodyPr>
          <a:lstStyle/>
          <a:p>
            <a:r>
              <a:rPr lang="en-US" sz="2000" b="1"/>
              <a:t>Primary Metric: Monthly Churn Rate</a:t>
            </a:r>
            <a:endParaRPr lang="en-US" sz="2000"/>
          </a:p>
          <a:p>
            <a:r>
              <a:rPr lang="en-US" sz="2000"/>
              <a:t>Tracks % of customers lost each month</a:t>
            </a:r>
          </a:p>
          <a:p>
            <a:r>
              <a:rPr lang="en-US" sz="2000"/>
              <a:t>Should be monitored by:</a:t>
            </a:r>
          </a:p>
          <a:p>
            <a:pPr marL="971550" lvl="1" indent="-514350">
              <a:buFont typeface="+mj-lt"/>
              <a:buAutoNum type="romanLcPeriod"/>
            </a:pPr>
            <a:r>
              <a:rPr lang="en-US" dirty="0"/>
              <a:t>Plan tier</a:t>
            </a:r>
          </a:p>
          <a:p>
            <a:pPr marL="971550" lvl="1" indent="-514350">
              <a:buFont typeface="+mj-lt"/>
              <a:buAutoNum type="romanLcPeriod"/>
            </a:pPr>
            <a:r>
              <a:rPr lang="en-US" dirty="0"/>
              <a:t>Engagement bucket</a:t>
            </a:r>
          </a:p>
          <a:p>
            <a:pPr marL="971550" lvl="1" indent="-514350">
              <a:buFont typeface="+mj-lt"/>
              <a:buAutoNum type="romanLcPeriod"/>
            </a:pPr>
            <a:r>
              <a:rPr lang="en-US" dirty="0"/>
              <a:t>Support intensity</a:t>
            </a:r>
          </a:p>
          <a:p>
            <a:r>
              <a:rPr lang="en-US" sz="2000"/>
              <a:t>Current baseline (overall): </a:t>
            </a:r>
            <a:r>
              <a:rPr lang="en-US" sz="2000" b="1"/>
              <a:t>28.5%</a:t>
            </a:r>
            <a:endParaRPr lang="en-US" sz="2000"/>
          </a:p>
          <a:p>
            <a:endParaRPr lang="en-US" sz="2000"/>
          </a:p>
        </p:txBody>
      </p:sp>
    </p:spTree>
    <p:extLst>
      <p:ext uri="{BB962C8B-B14F-4D97-AF65-F5344CB8AC3E}">
        <p14:creationId xmlns:p14="http://schemas.microsoft.com/office/powerpoint/2010/main" val="3297725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6D1508D-7C30-D90C-C0B6-2544F6F6CC72}"/>
              </a:ext>
            </a:extLst>
          </p:cNvPr>
          <p:cNvSpPr>
            <a:spLocks noGrp="1"/>
          </p:cNvSpPr>
          <p:nvPr>
            <p:ph type="title"/>
          </p:nvPr>
        </p:nvSpPr>
        <p:spPr>
          <a:xfrm>
            <a:off x="535021" y="685800"/>
            <a:ext cx="2639962" cy="5105400"/>
          </a:xfrm>
        </p:spPr>
        <p:txBody>
          <a:bodyPr>
            <a:normAutofit/>
          </a:bodyPr>
          <a:lstStyle/>
          <a:p>
            <a:r>
              <a:rPr lang="en-US" sz="2200">
                <a:solidFill>
                  <a:srgbClr val="FFFFFF"/>
                </a:solidFill>
              </a:rPr>
              <a:t>Recommendations</a:t>
            </a:r>
          </a:p>
        </p:txBody>
      </p:sp>
      <p:grpSp>
        <p:nvGrpSpPr>
          <p:cNvPr id="24" name="Group 23">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25"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26"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27"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8"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9"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0"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31" name="Rectangle 1">
            <a:extLst>
              <a:ext uri="{FF2B5EF4-FFF2-40B4-BE49-F238E27FC236}">
                <a16:creationId xmlns:a16="http://schemas.microsoft.com/office/drawing/2014/main" id="{17CAD65E-28A0-E870-6931-BB4E622EF5E7}"/>
              </a:ext>
            </a:extLst>
          </p:cNvPr>
          <p:cNvGraphicFramePr>
            <a:graphicFrameLocks noGrp="1"/>
          </p:cNvGraphicFramePr>
          <p:nvPr>
            <p:ph idx="1"/>
            <p:extLst>
              <p:ext uri="{D42A27DB-BD31-4B8C-83A1-F6EECF244321}">
                <p14:modId xmlns:p14="http://schemas.microsoft.com/office/powerpoint/2010/main" val="4017865741"/>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89118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13</TotalTime>
  <Words>856</Words>
  <Application>Microsoft Office PowerPoint</Application>
  <PresentationFormat>Widescreen</PresentationFormat>
  <Paragraphs>76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Arial Unicode MS</vt:lpstr>
      <vt:lpstr>Corbel</vt:lpstr>
      <vt:lpstr>Parallax</vt:lpstr>
      <vt:lpstr>Fit.ly Customer Churn Analysis</vt:lpstr>
      <vt:lpstr>Executive Summary</vt:lpstr>
      <vt:lpstr>Business Problem</vt:lpstr>
      <vt:lpstr>Data Validation</vt:lpstr>
      <vt:lpstr>Customer Distribution by Plan</vt:lpstr>
      <vt:lpstr>Support Resolution Time Distribution</vt:lpstr>
      <vt:lpstr>Churn by Engagement Level</vt:lpstr>
      <vt:lpstr>Churn by Support Interaction</vt:lpstr>
      <vt:lpstr>Proposed Business Metric</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Shams, Md Munem Shariar</dc:creator>
  <cp:lastModifiedBy>Shams, Md Munem Shariar</cp:lastModifiedBy>
  <cp:revision>1</cp:revision>
  <dcterms:created xsi:type="dcterms:W3CDTF">2026-02-21T13:03:26Z</dcterms:created>
  <dcterms:modified xsi:type="dcterms:W3CDTF">2026-02-21T13:16:39Z</dcterms:modified>
</cp:coreProperties>
</file>